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10287000" cx="18288000"/>
  <p:notesSz cx="6858000" cy="9144000"/>
  <p:embeddedFontLst>
    <p:embeddedFont>
      <p:font typeface="Montserrat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iQLeQbQEWSu4MiH2cRrcLUJuxH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45C8EF-3922-48ED-AAD0-3AA5F39FECB8}">
  <a:tblStyle styleId="{9745C8EF-3922-48ED-AAD0-3AA5F39FEC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913aff3a0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913aff3a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3aff3a0d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13aff3a0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29.png"/><Relationship Id="rId13" Type="http://schemas.openxmlformats.org/officeDocument/2006/relationships/image" Target="../media/image31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21.png"/><Relationship Id="rId15" Type="http://schemas.openxmlformats.org/officeDocument/2006/relationships/image" Target="../media/image25.png"/><Relationship Id="rId14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0" y="-325487"/>
            <a:ext cx="5377756" cy="10716432"/>
            <a:chOff x="0" y="-85725"/>
            <a:chExt cx="1416364" cy="2822435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416364" cy="2736710"/>
            </a:xfrm>
            <a:custGeom>
              <a:rect b="b" l="l" r="r" t="t"/>
              <a:pathLst>
                <a:path extrusionOk="0" h="2736710" w="1416364">
                  <a:moveTo>
                    <a:pt x="0" y="0"/>
                  </a:moveTo>
                  <a:lnTo>
                    <a:pt x="1416364" y="0"/>
                  </a:lnTo>
                  <a:lnTo>
                    <a:pt x="1416364" y="2736710"/>
                  </a:lnTo>
                  <a:lnTo>
                    <a:pt x="0" y="2736710"/>
                  </a:lnTo>
                  <a:close/>
                </a:path>
              </a:pathLst>
            </a:custGeom>
            <a:solidFill>
              <a:srgbClr val="307FE2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85725"/>
              <a:ext cx="1416364" cy="2822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3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26571" y="3701899"/>
            <a:ext cx="4724614" cy="2000928"/>
          </a:xfrm>
          <a:custGeom>
            <a:rect b="b" l="l" r="r" t="t"/>
            <a:pathLst>
              <a:path extrusionOk="0" h="2000928" w="4724614">
                <a:moveTo>
                  <a:pt x="0" y="0"/>
                </a:moveTo>
                <a:lnTo>
                  <a:pt x="4724614" y="0"/>
                </a:lnTo>
                <a:lnTo>
                  <a:pt x="4724614" y="2000927"/>
                </a:lnTo>
                <a:lnTo>
                  <a:pt x="0" y="2000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4009" r="-22026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6305525" y="3797150"/>
            <a:ext cx="11575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PRESENTACIÓN FINAL CAPSTONE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305519" y="4623549"/>
            <a:ext cx="10863412" cy="1171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12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para optar al título de Ingeniería en Informática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2583672" y="-325487"/>
            <a:ext cx="5704328" cy="10716432"/>
            <a:chOff x="0" y="-85725"/>
            <a:chExt cx="1502374" cy="2822435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502374" cy="2736710"/>
            </a:xfrm>
            <a:custGeom>
              <a:rect b="b" l="l" r="r" t="t"/>
              <a:pathLst>
                <a:path extrusionOk="0" h="2736710" w="1502374">
                  <a:moveTo>
                    <a:pt x="0" y="0"/>
                  </a:moveTo>
                  <a:lnTo>
                    <a:pt x="1502374" y="0"/>
                  </a:lnTo>
                  <a:lnTo>
                    <a:pt x="1502374" y="2736710"/>
                  </a:lnTo>
                  <a:lnTo>
                    <a:pt x="0" y="2736710"/>
                  </a:lnTo>
                  <a:close/>
                </a:path>
              </a:pathLst>
            </a:custGeom>
            <a:solidFill>
              <a:srgbClr val="307FE2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85725"/>
              <a:ext cx="1502374" cy="2822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3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2"/>
          <p:cNvGrpSpPr/>
          <p:nvPr/>
        </p:nvGrpSpPr>
        <p:grpSpPr>
          <a:xfrm>
            <a:off x="1149016" y="329948"/>
            <a:ext cx="10310704" cy="3222477"/>
            <a:chOff x="0" y="-85725"/>
            <a:chExt cx="2715576" cy="848718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715576" cy="762993"/>
            </a:xfrm>
            <a:custGeom>
              <a:rect b="b" l="l" r="r" t="t"/>
              <a:pathLst>
                <a:path extrusionOk="0" h="762993" w="2715576">
                  <a:moveTo>
                    <a:pt x="0" y="0"/>
                  </a:moveTo>
                  <a:lnTo>
                    <a:pt x="2715576" y="0"/>
                  </a:lnTo>
                  <a:lnTo>
                    <a:pt x="2715576" y="762993"/>
                  </a:lnTo>
                  <a:lnTo>
                    <a:pt x="0" y="762993"/>
                  </a:lnTo>
                  <a:close/>
                </a:path>
              </a:pathLst>
            </a:custGeom>
            <a:solidFill>
              <a:srgbClr val="307FE2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-85725"/>
              <a:ext cx="2715576" cy="848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3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1149016" y="3421490"/>
            <a:ext cx="10310704" cy="3222477"/>
            <a:chOff x="0" y="-85725"/>
            <a:chExt cx="2715576" cy="848718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2715576" cy="762993"/>
            </a:xfrm>
            <a:custGeom>
              <a:rect b="b" l="l" r="r" t="t"/>
              <a:pathLst>
                <a:path extrusionOk="0" h="762993" w="2715576">
                  <a:moveTo>
                    <a:pt x="0" y="0"/>
                  </a:moveTo>
                  <a:lnTo>
                    <a:pt x="2715576" y="0"/>
                  </a:lnTo>
                  <a:lnTo>
                    <a:pt x="2715576" y="762993"/>
                  </a:lnTo>
                  <a:lnTo>
                    <a:pt x="0" y="762993"/>
                  </a:lnTo>
                  <a:close/>
                </a:path>
              </a:pathLst>
            </a:custGeom>
            <a:solidFill>
              <a:srgbClr val="307FE2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85725"/>
              <a:ext cx="2715576" cy="848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3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9016" y="6513033"/>
            <a:ext cx="10310704" cy="3222477"/>
            <a:chOff x="0" y="-85725"/>
            <a:chExt cx="2715576" cy="848718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2715576" cy="762993"/>
            </a:xfrm>
            <a:custGeom>
              <a:rect b="b" l="l" r="r" t="t"/>
              <a:pathLst>
                <a:path extrusionOk="0" h="762993" w="2715576">
                  <a:moveTo>
                    <a:pt x="0" y="0"/>
                  </a:moveTo>
                  <a:lnTo>
                    <a:pt x="2715576" y="0"/>
                  </a:lnTo>
                  <a:lnTo>
                    <a:pt x="2715576" y="762993"/>
                  </a:lnTo>
                  <a:lnTo>
                    <a:pt x="0" y="762993"/>
                  </a:lnTo>
                  <a:close/>
                </a:path>
              </a:pathLst>
            </a:custGeom>
            <a:solidFill>
              <a:srgbClr val="307FE2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85725"/>
              <a:ext cx="2715576" cy="8487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35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/>
          <p:nvPr/>
        </p:nvSpPr>
        <p:spPr>
          <a:xfrm>
            <a:off x="1440731" y="855782"/>
            <a:ext cx="2496794" cy="2496295"/>
          </a:xfrm>
          <a:custGeom>
            <a:rect b="b" l="l" r="r" t="t"/>
            <a:pathLst>
              <a:path extrusionOk="0" h="6350000" w="6351270">
                <a:moveTo>
                  <a:pt x="5985510" y="0"/>
                </a:moveTo>
                <a:lnTo>
                  <a:pt x="364490" y="0"/>
                </a:lnTo>
                <a:cubicBezTo>
                  <a:pt x="162560" y="0"/>
                  <a:pt x="0" y="162560"/>
                  <a:pt x="0" y="364490"/>
                </a:cubicBezTo>
                <a:lnTo>
                  <a:pt x="0" y="5986780"/>
                </a:lnTo>
                <a:cubicBezTo>
                  <a:pt x="0" y="6187440"/>
                  <a:pt x="162560" y="6350000"/>
                  <a:pt x="364490" y="6350000"/>
                </a:cubicBezTo>
                <a:lnTo>
                  <a:pt x="5986780" y="6350000"/>
                </a:lnTo>
                <a:cubicBezTo>
                  <a:pt x="6187440" y="6350000"/>
                  <a:pt x="6351270" y="6187440"/>
                  <a:pt x="6351270" y="5985510"/>
                </a:cubicBezTo>
                <a:lnTo>
                  <a:pt x="6351270" y="364490"/>
                </a:lnTo>
                <a:cubicBezTo>
                  <a:pt x="6350000" y="162560"/>
                  <a:pt x="6187440" y="0"/>
                  <a:pt x="5985510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" l="0" r="0" t="-9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440731" y="3895353"/>
            <a:ext cx="2496794" cy="2496295"/>
          </a:xfrm>
          <a:custGeom>
            <a:rect b="b" l="l" r="r" t="t"/>
            <a:pathLst>
              <a:path extrusionOk="0" h="6350000" w="6351270">
                <a:moveTo>
                  <a:pt x="5985510" y="0"/>
                </a:moveTo>
                <a:lnTo>
                  <a:pt x="364490" y="0"/>
                </a:lnTo>
                <a:cubicBezTo>
                  <a:pt x="162560" y="0"/>
                  <a:pt x="0" y="162560"/>
                  <a:pt x="0" y="364490"/>
                </a:cubicBezTo>
                <a:lnTo>
                  <a:pt x="0" y="5986780"/>
                </a:lnTo>
                <a:cubicBezTo>
                  <a:pt x="0" y="6187440"/>
                  <a:pt x="162560" y="6350000"/>
                  <a:pt x="364490" y="6350000"/>
                </a:cubicBezTo>
                <a:lnTo>
                  <a:pt x="5986780" y="6350000"/>
                </a:lnTo>
                <a:cubicBezTo>
                  <a:pt x="6187440" y="6350000"/>
                  <a:pt x="6351270" y="6187440"/>
                  <a:pt x="6351270" y="5985510"/>
                </a:cubicBezTo>
                <a:lnTo>
                  <a:pt x="6351270" y="364490"/>
                </a:lnTo>
                <a:cubicBezTo>
                  <a:pt x="6350000" y="162560"/>
                  <a:pt x="6187440" y="0"/>
                  <a:pt x="5985510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256" l="0" r="0" t="-125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1440731" y="7034493"/>
            <a:ext cx="2496794" cy="2481725"/>
          </a:xfrm>
          <a:custGeom>
            <a:rect b="b" l="l" r="r" t="t"/>
            <a:pathLst>
              <a:path extrusionOk="0" h="6312937" w="6351270">
                <a:moveTo>
                  <a:pt x="5985510" y="0"/>
                </a:moveTo>
                <a:lnTo>
                  <a:pt x="364490" y="0"/>
                </a:lnTo>
                <a:cubicBezTo>
                  <a:pt x="162560" y="0"/>
                  <a:pt x="0" y="161611"/>
                  <a:pt x="0" y="362363"/>
                </a:cubicBezTo>
                <a:lnTo>
                  <a:pt x="0" y="5951837"/>
                </a:lnTo>
                <a:cubicBezTo>
                  <a:pt x="0" y="6151326"/>
                  <a:pt x="162560" y="6312937"/>
                  <a:pt x="364490" y="6312937"/>
                </a:cubicBezTo>
                <a:lnTo>
                  <a:pt x="5986780" y="6312937"/>
                </a:lnTo>
                <a:cubicBezTo>
                  <a:pt x="6187440" y="6312937"/>
                  <a:pt x="6351270" y="6151326"/>
                  <a:pt x="6351270" y="5950574"/>
                </a:cubicBezTo>
                <a:lnTo>
                  <a:pt x="6351270" y="362363"/>
                </a:lnTo>
                <a:cubicBezTo>
                  <a:pt x="6350000" y="161611"/>
                  <a:pt x="6187440" y="0"/>
                  <a:pt x="5985510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7911" l="0" r="0" t="-17912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2721000" y="4604850"/>
            <a:ext cx="5429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Integrantes</a:t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4268345" y="1021556"/>
            <a:ext cx="6641325" cy="2326144"/>
            <a:chOff x="0" y="-9525"/>
            <a:chExt cx="8855100" cy="3101525"/>
          </a:xfrm>
        </p:grpSpPr>
        <p:sp>
          <p:nvSpPr>
            <p:cNvPr id="111" name="Google Shape;111;p2"/>
            <p:cNvSpPr txBox="1"/>
            <p:nvPr/>
          </p:nvSpPr>
          <p:spPr>
            <a:xfrm>
              <a:off x="0" y="-9525"/>
              <a:ext cx="454669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Benjamín Ruiz</a:t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711200"/>
              <a:ext cx="8855100" cy="238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15900" lvl="1" marL="43180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Char char="•"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Scrum Master, Integrante de backend</a:t>
              </a:r>
              <a:endParaRPr/>
            </a:p>
            <a:p>
              <a:pPr indent="-215900" lvl="1" marL="43180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Char char="•"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Creación y mantención  de  arquitectura  en la nube, </a:t>
              </a:r>
              <a:r>
                <a:rPr b="1"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</a:t>
              </a:r>
              <a:r>
                <a:rPr b="1" i="0" lang="en-US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signaci</a:t>
              </a:r>
              <a:r>
                <a:rPr b="1"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ó</a:t>
              </a:r>
              <a:r>
                <a:rPr b="1" i="0" lang="en-US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 de tareas, creacion de endpoints, </a:t>
              </a:r>
              <a:r>
                <a:rPr b="1"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creación</a:t>
              </a:r>
              <a:r>
                <a:rPr b="1" i="0" lang="en-US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pipelines de despliegue </a:t>
              </a:r>
              <a:endParaRPr/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4268345" y="7246424"/>
            <a:ext cx="6641325" cy="1956694"/>
            <a:chOff x="0" y="-9525"/>
            <a:chExt cx="8855100" cy="2608925"/>
          </a:xfrm>
        </p:grpSpPr>
        <p:sp>
          <p:nvSpPr>
            <p:cNvPr id="114" name="Google Shape;114;p2"/>
            <p:cNvSpPr txBox="1"/>
            <p:nvPr/>
          </p:nvSpPr>
          <p:spPr>
            <a:xfrm>
              <a:off x="0" y="-9525"/>
              <a:ext cx="4546695" cy="7207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Matías Soto</a:t>
              </a:r>
              <a:endParaRPr/>
            </a:p>
          </p:txBody>
        </p:sp>
        <p:sp>
          <p:nvSpPr>
            <p:cNvPr id="115" name="Google Shape;115;p2"/>
            <p:cNvSpPr txBox="1"/>
            <p:nvPr/>
          </p:nvSpPr>
          <p:spPr>
            <a:xfrm>
              <a:off x="0" y="711200"/>
              <a:ext cx="8855100" cy="188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15900" lvl="1" marL="43180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Char char="•"/>
              </a:pPr>
              <a:r>
                <a:rPr b="1" i="0" lang="en-US" sz="20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Integrante de frontend</a:t>
              </a:r>
              <a:endParaRPr/>
            </a:p>
            <a:p>
              <a:pPr indent="-215900" lvl="1" marL="431801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Arial"/>
                <a:buChar char="•"/>
              </a:pPr>
              <a:r>
                <a:rPr b="1" lang="en-US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Creación y modificación del diseño del sistema, corrección de errores del FrontEnd, Integración y consumo de datos del Backend.</a:t>
              </a:r>
              <a:endParaRPr/>
            </a:p>
          </p:txBody>
        </p:sp>
      </p:grpSp>
      <p:sp>
        <p:nvSpPr>
          <p:cNvPr id="116" name="Google Shape;116;p2"/>
          <p:cNvSpPr txBox="1"/>
          <p:nvPr/>
        </p:nvSpPr>
        <p:spPr>
          <a:xfrm>
            <a:off x="4268345" y="4157248"/>
            <a:ext cx="4320984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Cristian Mansilla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268345" y="4700173"/>
            <a:ext cx="664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Integrante de backend</a:t>
            </a:r>
            <a:endParaRPr/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Afinación de agentes inteligentes, creación y vinculación de endpoints con el frontend.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3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3"/>
          <p:cNvSpPr/>
          <p:nvPr/>
        </p:nvSpPr>
        <p:spPr>
          <a:xfrm>
            <a:off x="10065538" y="2393767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1157460" y="1076325"/>
            <a:ext cx="7211120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1157612" y="2997599"/>
            <a:ext cx="8811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Actualmente,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no existe 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un sistema especializado para apoyar la corrección de evaluaciones. El proceso depende totalmente del trabajo manual del docente, lo que hace que la revisión sea lenta, pesada y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sin sesgos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10439400" y="0"/>
            <a:ext cx="7858125" cy="10287000"/>
          </a:xfrm>
          <a:custGeom>
            <a:rect b="b" l="l" r="r" t="t"/>
            <a:pathLst>
              <a:path extrusionOk="0" h="1593725" w="1217429">
                <a:moveTo>
                  <a:pt x="0" y="0"/>
                </a:moveTo>
                <a:lnTo>
                  <a:pt x="1217429" y="0"/>
                </a:lnTo>
                <a:lnTo>
                  <a:pt x="1217429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id="131" name="Google Shape;131;p4"/>
          <p:cNvSpPr txBox="1"/>
          <p:nvPr/>
        </p:nvSpPr>
        <p:spPr>
          <a:xfrm>
            <a:off x="1028700" y="1076325"/>
            <a:ext cx="7211120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 Problematica</a:t>
            </a:r>
            <a:endParaRPr/>
          </a:p>
        </p:txBody>
      </p:sp>
      <p:cxnSp>
        <p:nvCxnSpPr>
          <p:cNvPr id="132" name="Google Shape;132;p4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4"/>
          <p:cNvSpPr txBox="1"/>
          <p:nvPr/>
        </p:nvSpPr>
        <p:spPr>
          <a:xfrm>
            <a:off x="1157612" y="2997599"/>
            <a:ext cx="8811362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sistema manual de corrección genera varios inconvenientes:</a:t>
            </a:r>
            <a:endParaRPr/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Sobrecarga e ineficiencia: Los docentes deben revisar grandes volúmenes de evaluaciones, consumiendo tiempo que deberían dedicar a actividades pedagógicas.</a:t>
            </a:r>
            <a:endParaRPr/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Inconsistencias y sesgos por cansancio: La evaluación puede variar entre docentes o incluso en un mismo docente, especialmente cuando el cansancio afecta el criterio aplicado.</a:t>
            </a:r>
            <a:endParaRPr/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Retroalimentación tardía y poca escalabilidad: El aumento de estudiantes hace que el modelo manual no alcance a cubrir la demanda, retrasando notas y comentarios formativos.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5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5"/>
          <p:cNvSpPr/>
          <p:nvPr/>
        </p:nvSpPr>
        <p:spPr>
          <a:xfrm>
            <a:off x="10607753" y="2857500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 txBox="1"/>
          <p:nvPr/>
        </p:nvSpPr>
        <p:spPr>
          <a:xfrm>
            <a:off x="1181100" y="1228725"/>
            <a:ext cx="7211120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Solución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157612" y="2997599"/>
            <a:ext cx="8811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Krino Insight, una plataforma web que integra inteligencia artificial para automatizar y optimizar el proceso de corrección académica. El sistema permite cargar evaluaciones y rúbricas, aplicar automáticamente los criterios definidos mediante un sistema multi-agentes de IA, y generar puntajes preliminares junto con retroalimentación detallada.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docente mantiene control total sobre la evaluación, pudiendo revisar, ajustar y validar cada resultado antes de publicarlo. Esta solución reduce la carga operativa, disminuye inconsistencias y sesgos por cansancio, y acelera la entrega de retroalimentación formativa a los estudiantes.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6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/>
          <p:nvPr/>
        </p:nvSpPr>
        <p:spPr>
          <a:xfrm>
            <a:off x="10667999" y="2242822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 txBox="1"/>
          <p:nvPr/>
        </p:nvSpPr>
        <p:spPr>
          <a:xfrm>
            <a:off x="1181100" y="1228725"/>
            <a:ext cx="8596781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Objetivo general</a:t>
            </a:r>
            <a:endParaRPr/>
          </a:p>
        </p:txBody>
      </p:sp>
      <p:sp>
        <p:nvSpPr>
          <p:cNvPr id="149" name="Google Shape;149;p6"/>
          <p:cNvSpPr txBox="1"/>
          <p:nvPr/>
        </p:nvSpPr>
        <p:spPr>
          <a:xfrm>
            <a:off x="1157612" y="2997599"/>
            <a:ext cx="8811300" cy="2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Desarrollar Krino Insight,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una plataforma web 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que permita la gestión y corrección automatizada de evaluaciones en Duoc UC, integrando agentes con inteligencia artificial para asistir en la asignación preliminar de puntajes y la generación de retroalimentación, asegurando un proceso más eficiente, consistente y escalable para los docentes, en línea con los criterios definidos en rúbricas académicas.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11481238" y="2393767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7"/>
          <p:cNvSpPr txBox="1"/>
          <p:nvPr/>
        </p:nvSpPr>
        <p:spPr>
          <a:xfrm>
            <a:off x="1181100" y="1228725"/>
            <a:ext cx="9997504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Objetivos específicos</a:t>
            </a:r>
            <a:endParaRPr/>
          </a:p>
        </p:txBody>
      </p:sp>
      <p:cxnSp>
        <p:nvCxnSpPr>
          <p:cNvPr id="156" name="Google Shape;156;p7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7"/>
          <p:cNvSpPr txBox="1"/>
          <p:nvPr/>
        </p:nvSpPr>
        <p:spPr>
          <a:xfrm>
            <a:off x="1157612" y="2997599"/>
            <a:ext cx="8811300" cy="5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Implementar una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sistema 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web segura y escalable para gestionar usuarios y roles.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Integrar la API de Chat GPT para sugerir puntajes y feedback basados en rúbricas.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Desarrollar un módulo administrativo para crear evaluaciones, inscribir secciones y cargar rúbricas.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Crear un panel docente para revisar, editar y validar las correcciones propuestas por la IA.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Garantizar un diseño accesible, optimizado y centrado en el usuario (UX).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11321028" y="2125633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3" y="0"/>
                </a:lnTo>
                <a:lnTo>
                  <a:pt x="5778063" y="5778063"/>
                </a:lnTo>
                <a:lnTo>
                  <a:pt x="0" y="57780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8"/>
          <p:cNvSpPr txBox="1"/>
          <p:nvPr/>
        </p:nvSpPr>
        <p:spPr>
          <a:xfrm>
            <a:off x="1157612" y="2997599"/>
            <a:ext cx="88113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Se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implementa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 la corrección asistida por IA (API de OpenAI).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Los docentes pueden ver sus secciones, la lista de estudiantes, las evaluaciones y las notas obtenidas correspondientes.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sistema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evalúa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 de manera correcta las asignaturas de "Desarrollo Orientado a Objetos" y "Fundamentos de Programación".</a:t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agente inteligente evalúa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correctamente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, mostrando una mayor diversidad en las notas entregadas. Esto se logró adaptando las rúbricas (con más puntaje) y dando más "libertad" al modelo.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docente mantiene el control total, pudiendo revisar, ajustar puntajes y complementar la retroalimentación generada por la IA.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1181100" y="1228725"/>
            <a:ext cx="9997504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Alcance</a:t>
            </a:r>
            <a:endParaRPr/>
          </a:p>
        </p:txBody>
      </p:sp>
      <p:cxnSp>
        <p:nvCxnSpPr>
          <p:cNvPr id="165" name="Google Shape;165;p8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11244499" y="3118873"/>
            <a:ext cx="4034070" cy="4049255"/>
          </a:xfrm>
          <a:custGeom>
            <a:rect b="b" l="l" r="r" t="t"/>
            <a:pathLst>
              <a:path extrusionOk="0" h="4049255" w="4034070">
                <a:moveTo>
                  <a:pt x="0" y="0"/>
                </a:moveTo>
                <a:lnTo>
                  <a:pt x="4034071" y="0"/>
                </a:lnTo>
                <a:lnTo>
                  <a:pt x="4034071" y="4049254"/>
                </a:lnTo>
                <a:lnTo>
                  <a:pt x="0" y="4049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9"/>
          <p:cNvSpPr txBox="1"/>
          <p:nvPr/>
        </p:nvSpPr>
        <p:spPr>
          <a:xfrm>
            <a:off x="1181100" y="1228725"/>
            <a:ext cx="8596781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Limitación </a:t>
            </a:r>
            <a:endParaRPr/>
          </a:p>
        </p:txBody>
      </p:sp>
      <p:cxnSp>
        <p:nvCxnSpPr>
          <p:cNvPr id="172" name="Google Shape;172;p9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9"/>
          <p:cNvSpPr txBox="1"/>
          <p:nvPr/>
        </p:nvSpPr>
        <p:spPr>
          <a:xfrm>
            <a:off x="1157612" y="2997599"/>
            <a:ext cx="88113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Limitación con los créditos de la APIS_KEYS a la hora de evaluar, ya que el sistema depende de estas KEYS para evaluar y esta tienen un alcance limitado por lo que se puede acabar.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uso de OpenAI limita las herramientas que podemos usar para tener una mejor precisión y mejor retroalimentación de las evaluaciones.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Limitación de uso del Microsoft Azure, ya que estamos destinados a solamente las herramientas que nos proporciona. No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está</a:t>
            </a: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 bien </a:t>
            </a:r>
            <a:r>
              <a:rPr lang="en-US" sz="2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implementado para el uso de agentes con Inteligencia artificial.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10429875" y="0"/>
            <a:ext cx="7858125" cy="10287000"/>
          </a:xfrm>
          <a:custGeom>
            <a:rect b="b" l="l" r="r" t="t"/>
            <a:pathLst>
              <a:path extrusionOk="0" h="1593725" w="1217429">
                <a:moveTo>
                  <a:pt x="0" y="0"/>
                </a:moveTo>
                <a:lnTo>
                  <a:pt x="1217429" y="0"/>
                </a:lnTo>
                <a:lnTo>
                  <a:pt x="1217429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id="179" name="Google Shape;179;p10"/>
          <p:cNvSpPr txBox="1"/>
          <p:nvPr/>
        </p:nvSpPr>
        <p:spPr>
          <a:xfrm>
            <a:off x="533013" y="1228725"/>
            <a:ext cx="9556841" cy="1014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43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1181100" y="1228725"/>
            <a:ext cx="8882587" cy="2004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Metodología Kanban</a:t>
            </a:r>
            <a:endParaRPr/>
          </a:p>
        </p:txBody>
      </p:sp>
      <p:sp>
        <p:nvSpPr>
          <p:cNvPr id="181" name="Google Shape;181;p10"/>
          <p:cNvSpPr txBox="1"/>
          <p:nvPr/>
        </p:nvSpPr>
        <p:spPr>
          <a:xfrm>
            <a:off x="1028700" y="3851561"/>
            <a:ext cx="8300027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La metodología Kanban permite un desarrollo ágil y efectivo al visualizar el flujo de trabajo, priorizar tareas y facilitar la colaboración. Esta estrategia mejora la adaptabilidad del equipo ante cambios y asegura la entrega continua de mejoras, promoviendo un ambiente de trabajo más organizado y eficiente.</a:t>
            </a:r>
            <a:endParaRPr/>
          </a:p>
        </p:txBody>
      </p:sp>
      <p:cxnSp>
        <p:nvCxnSpPr>
          <p:cNvPr id="182" name="Google Shape;182;p10"/>
          <p:cNvCxnSpPr/>
          <p:nvPr/>
        </p:nvCxnSpPr>
        <p:spPr>
          <a:xfrm>
            <a:off x="1181100" y="3620322"/>
            <a:ext cx="721110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/>
          <p:nvPr/>
        </p:nvSpPr>
        <p:spPr>
          <a:xfrm>
            <a:off x="1181100" y="1228725"/>
            <a:ext cx="8596781" cy="2004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Cronograma de desarrollo</a:t>
            </a:r>
            <a:endParaRPr/>
          </a:p>
        </p:txBody>
      </p:sp>
      <p:cxnSp>
        <p:nvCxnSpPr>
          <p:cNvPr id="188" name="Google Shape;188;p11"/>
          <p:cNvCxnSpPr/>
          <p:nvPr/>
        </p:nvCxnSpPr>
        <p:spPr>
          <a:xfrm>
            <a:off x="1181100" y="3611522"/>
            <a:ext cx="721110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89" name="Google Shape;189;p11"/>
          <p:cNvGraphicFramePr/>
          <p:nvPr/>
        </p:nvGraphicFramePr>
        <p:xfrm>
          <a:off x="2028075" y="43580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{9745C8EF-3922-48ED-AAD0-3AA5F39FECB8}</a:tableStyleId>
              </a:tblPr>
              <a:tblGrid>
                <a:gridCol w="1751200"/>
                <a:gridCol w="694750"/>
                <a:gridCol w="676650"/>
                <a:gridCol w="677925"/>
                <a:gridCol w="681800"/>
                <a:gridCol w="677925"/>
                <a:gridCol w="677925"/>
                <a:gridCol w="677925"/>
                <a:gridCol w="677925"/>
                <a:gridCol w="677925"/>
                <a:gridCol w="677925"/>
                <a:gridCol w="677925"/>
                <a:gridCol w="677925"/>
                <a:gridCol w="680525"/>
                <a:gridCol w="680525"/>
                <a:gridCol w="680525"/>
                <a:gridCol w="398275"/>
                <a:gridCol w="671450"/>
                <a:gridCol w="680525"/>
                <a:gridCol w="680525"/>
              </a:tblGrid>
              <a:tr h="314325">
                <a:tc row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 hMerge="1"/>
                <a:tc hMerge="1"/>
                <a:tc hMerge="1"/>
                <a:tc gridSpan="1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  <a:tc hMerge="1"/>
                <a:tc hMerge="1"/>
              </a:tr>
              <a:tr h="3143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b="1" lang="en-US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272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requerimientos (ERS)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Planificación y control del proyecto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y creación de base de datos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272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arquitectura (DAS)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E2EF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de datos y procesamiento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 front-end y back-end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272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 SQL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44005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de agentes inteligentes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272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Despliegue en Azure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4CC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</a:tr>
              <a:tr h="2724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rPr lang="en-US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Validación de seguridad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solidFill>
                      <a:srgbClr val="FBE5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1181100" y="1228725"/>
            <a:ext cx="8596781" cy="2004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del software</a:t>
            </a:r>
            <a:endParaRPr/>
          </a:p>
        </p:txBody>
      </p:sp>
      <p:cxnSp>
        <p:nvCxnSpPr>
          <p:cNvPr id="195" name="Google Shape;195;p12"/>
          <p:cNvCxnSpPr/>
          <p:nvPr/>
        </p:nvCxnSpPr>
        <p:spPr>
          <a:xfrm>
            <a:off x="1092800" y="3428997"/>
            <a:ext cx="721110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2"/>
          <p:cNvSpPr/>
          <p:nvPr/>
        </p:nvSpPr>
        <p:spPr>
          <a:xfrm>
            <a:off x="4052888" y="3769039"/>
            <a:ext cx="10182225" cy="5610614"/>
          </a:xfrm>
          <a:custGeom>
            <a:rect b="b" l="l" r="r" t="t"/>
            <a:pathLst>
              <a:path extrusionOk="0" h="5610614" w="10182225">
                <a:moveTo>
                  <a:pt x="0" y="0"/>
                </a:moveTo>
                <a:lnTo>
                  <a:pt x="10182224" y="0"/>
                </a:lnTo>
                <a:lnTo>
                  <a:pt x="10182224" y="5610614"/>
                </a:lnTo>
                <a:lnTo>
                  <a:pt x="0" y="5610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2632553" y="1406617"/>
            <a:ext cx="13022894" cy="8562553"/>
          </a:xfrm>
          <a:custGeom>
            <a:rect b="b" l="l" r="r" t="t"/>
            <a:pathLst>
              <a:path extrusionOk="0" h="8562553" w="13022894">
                <a:moveTo>
                  <a:pt x="0" y="0"/>
                </a:moveTo>
                <a:lnTo>
                  <a:pt x="13022894" y="0"/>
                </a:lnTo>
                <a:lnTo>
                  <a:pt x="13022894" y="8562553"/>
                </a:lnTo>
                <a:lnTo>
                  <a:pt x="0" y="85625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2" name="Google Shape;202;p13"/>
          <p:cNvSpPr txBox="1"/>
          <p:nvPr/>
        </p:nvSpPr>
        <p:spPr>
          <a:xfrm>
            <a:off x="3031050" y="329025"/>
            <a:ext cx="122259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A6ED8"/>
                </a:solidFill>
                <a:latin typeface="Montserrat"/>
                <a:ea typeface="Montserrat"/>
                <a:cs typeface="Montserrat"/>
                <a:sym typeface="Montserrat"/>
              </a:rPr>
              <a:t>Modelo de base de datos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913aff3a0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925" y="1303500"/>
            <a:ext cx="15821601" cy="74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4650227" y="5449699"/>
            <a:ext cx="3230963" cy="1163147"/>
          </a:xfrm>
          <a:custGeom>
            <a:rect b="b" l="l" r="r" t="t"/>
            <a:pathLst>
              <a:path extrusionOk="0" h="1163147" w="3230963">
                <a:moveTo>
                  <a:pt x="0" y="0"/>
                </a:moveTo>
                <a:lnTo>
                  <a:pt x="3230963" y="0"/>
                </a:lnTo>
                <a:lnTo>
                  <a:pt x="3230963" y="1163146"/>
                </a:lnTo>
                <a:lnTo>
                  <a:pt x="0" y="1163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4"/>
          <p:cNvSpPr/>
          <p:nvPr/>
        </p:nvSpPr>
        <p:spPr>
          <a:xfrm>
            <a:off x="14562832" y="7530219"/>
            <a:ext cx="3318358" cy="869274"/>
          </a:xfrm>
          <a:custGeom>
            <a:rect b="b" l="l" r="r" t="t"/>
            <a:pathLst>
              <a:path extrusionOk="0" h="869274" w="3318358">
                <a:moveTo>
                  <a:pt x="0" y="0"/>
                </a:moveTo>
                <a:lnTo>
                  <a:pt x="3318358" y="0"/>
                </a:lnTo>
                <a:lnTo>
                  <a:pt x="3318358" y="869274"/>
                </a:lnTo>
                <a:lnTo>
                  <a:pt x="0" y="869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4"/>
          <p:cNvSpPr/>
          <p:nvPr/>
        </p:nvSpPr>
        <p:spPr>
          <a:xfrm>
            <a:off x="1028700" y="4494252"/>
            <a:ext cx="4507654" cy="2069087"/>
          </a:xfrm>
          <a:custGeom>
            <a:rect b="b" l="l" r="r" t="t"/>
            <a:pathLst>
              <a:path extrusionOk="0" h="2069087" w="4507654">
                <a:moveTo>
                  <a:pt x="0" y="0"/>
                </a:moveTo>
                <a:lnTo>
                  <a:pt x="4507654" y="0"/>
                </a:lnTo>
                <a:lnTo>
                  <a:pt x="4507654" y="2069087"/>
                </a:lnTo>
                <a:lnTo>
                  <a:pt x="0" y="2069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14"/>
          <p:cNvSpPr/>
          <p:nvPr/>
        </p:nvSpPr>
        <p:spPr>
          <a:xfrm>
            <a:off x="6615518" y="4798219"/>
            <a:ext cx="3102286" cy="1302960"/>
          </a:xfrm>
          <a:custGeom>
            <a:rect b="b" l="l" r="r" t="t"/>
            <a:pathLst>
              <a:path extrusionOk="0" h="1302960" w="3102286">
                <a:moveTo>
                  <a:pt x="0" y="0"/>
                </a:moveTo>
                <a:lnTo>
                  <a:pt x="3102286" y="0"/>
                </a:lnTo>
                <a:lnTo>
                  <a:pt x="3102286" y="1302960"/>
                </a:lnTo>
                <a:lnTo>
                  <a:pt x="0" y="1302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4"/>
          <p:cNvSpPr/>
          <p:nvPr/>
        </p:nvSpPr>
        <p:spPr>
          <a:xfrm>
            <a:off x="570348" y="7640657"/>
            <a:ext cx="4695930" cy="1743364"/>
          </a:xfrm>
          <a:custGeom>
            <a:rect b="b" l="l" r="r" t="t"/>
            <a:pathLst>
              <a:path extrusionOk="0" h="1743364" w="4695930">
                <a:moveTo>
                  <a:pt x="0" y="0"/>
                </a:moveTo>
                <a:lnTo>
                  <a:pt x="4695931" y="0"/>
                </a:lnTo>
                <a:lnTo>
                  <a:pt x="4695931" y="1743365"/>
                </a:lnTo>
                <a:lnTo>
                  <a:pt x="0" y="17433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7" name="Google Shape;217;p14"/>
          <p:cNvSpPr/>
          <p:nvPr/>
        </p:nvSpPr>
        <p:spPr>
          <a:xfrm>
            <a:off x="9498013" y="2633590"/>
            <a:ext cx="1985612" cy="1991540"/>
          </a:xfrm>
          <a:custGeom>
            <a:rect b="b" l="l" r="r" t="t"/>
            <a:pathLst>
              <a:path extrusionOk="0" h="1991540" w="1985612">
                <a:moveTo>
                  <a:pt x="0" y="0"/>
                </a:moveTo>
                <a:lnTo>
                  <a:pt x="1985612" y="0"/>
                </a:lnTo>
                <a:lnTo>
                  <a:pt x="1985612" y="1991540"/>
                </a:lnTo>
                <a:lnTo>
                  <a:pt x="0" y="1991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4"/>
          <p:cNvSpPr/>
          <p:nvPr/>
        </p:nvSpPr>
        <p:spPr>
          <a:xfrm>
            <a:off x="11003649" y="7735907"/>
            <a:ext cx="3327628" cy="1871790"/>
          </a:xfrm>
          <a:custGeom>
            <a:rect b="b" l="l" r="r" t="t"/>
            <a:pathLst>
              <a:path extrusionOk="0" h="1871790" w="3327628">
                <a:moveTo>
                  <a:pt x="0" y="0"/>
                </a:moveTo>
                <a:lnTo>
                  <a:pt x="3327628" y="0"/>
                </a:lnTo>
                <a:lnTo>
                  <a:pt x="3327628" y="1871791"/>
                </a:lnTo>
                <a:lnTo>
                  <a:pt x="0" y="18717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9" name="Google Shape;219;p14"/>
          <p:cNvSpPr/>
          <p:nvPr/>
        </p:nvSpPr>
        <p:spPr>
          <a:xfrm>
            <a:off x="14863284" y="2152947"/>
            <a:ext cx="2804849" cy="1577727"/>
          </a:xfrm>
          <a:custGeom>
            <a:rect b="b" l="l" r="r" t="t"/>
            <a:pathLst>
              <a:path extrusionOk="0" h="1577727" w="2804849">
                <a:moveTo>
                  <a:pt x="0" y="0"/>
                </a:moveTo>
                <a:lnTo>
                  <a:pt x="2804849" y="0"/>
                </a:lnTo>
                <a:lnTo>
                  <a:pt x="2804849" y="1577727"/>
                </a:lnTo>
                <a:lnTo>
                  <a:pt x="0" y="15777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4"/>
          <p:cNvSpPr/>
          <p:nvPr/>
        </p:nvSpPr>
        <p:spPr>
          <a:xfrm>
            <a:off x="13169550" y="3859134"/>
            <a:ext cx="2429984" cy="1360791"/>
          </a:xfrm>
          <a:custGeom>
            <a:rect b="b" l="l" r="r" t="t"/>
            <a:pathLst>
              <a:path extrusionOk="0" h="1360791" w="2429984">
                <a:moveTo>
                  <a:pt x="0" y="0"/>
                </a:moveTo>
                <a:lnTo>
                  <a:pt x="2429984" y="0"/>
                </a:lnTo>
                <a:lnTo>
                  <a:pt x="2429984" y="1360791"/>
                </a:lnTo>
                <a:lnTo>
                  <a:pt x="0" y="13607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4"/>
          <p:cNvSpPr/>
          <p:nvPr/>
        </p:nvSpPr>
        <p:spPr>
          <a:xfrm>
            <a:off x="10496668" y="6006409"/>
            <a:ext cx="3503696" cy="1302375"/>
          </a:xfrm>
          <a:custGeom>
            <a:rect b="b" l="l" r="r" t="t"/>
            <a:pathLst>
              <a:path extrusionOk="0" h="1302375" w="3503696">
                <a:moveTo>
                  <a:pt x="0" y="0"/>
                </a:moveTo>
                <a:lnTo>
                  <a:pt x="3503696" y="0"/>
                </a:lnTo>
                <a:lnTo>
                  <a:pt x="3503696" y="1302375"/>
                </a:lnTo>
                <a:lnTo>
                  <a:pt x="0" y="13023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14"/>
          <p:cNvSpPr/>
          <p:nvPr/>
        </p:nvSpPr>
        <p:spPr>
          <a:xfrm>
            <a:off x="1355538" y="2152947"/>
            <a:ext cx="2397497" cy="2341305"/>
          </a:xfrm>
          <a:custGeom>
            <a:rect b="b" l="l" r="r" t="t"/>
            <a:pathLst>
              <a:path extrusionOk="0" h="2341305" w="2397497">
                <a:moveTo>
                  <a:pt x="0" y="0"/>
                </a:moveTo>
                <a:lnTo>
                  <a:pt x="2397497" y="0"/>
                </a:lnTo>
                <a:lnTo>
                  <a:pt x="2397497" y="2341305"/>
                </a:lnTo>
                <a:lnTo>
                  <a:pt x="0" y="2341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3" name="Google Shape;223;p14"/>
          <p:cNvSpPr/>
          <p:nvPr/>
        </p:nvSpPr>
        <p:spPr>
          <a:xfrm>
            <a:off x="5730894" y="2848519"/>
            <a:ext cx="1493345" cy="1344011"/>
          </a:xfrm>
          <a:custGeom>
            <a:rect b="b" l="l" r="r" t="t"/>
            <a:pathLst>
              <a:path extrusionOk="0" h="1344011" w="1493345">
                <a:moveTo>
                  <a:pt x="0" y="0"/>
                </a:moveTo>
                <a:lnTo>
                  <a:pt x="1493345" y="0"/>
                </a:lnTo>
                <a:lnTo>
                  <a:pt x="1493345" y="1344011"/>
                </a:lnTo>
                <a:lnTo>
                  <a:pt x="0" y="13440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4" name="Google Shape;224;p14"/>
          <p:cNvSpPr/>
          <p:nvPr/>
        </p:nvSpPr>
        <p:spPr>
          <a:xfrm>
            <a:off x="5912403" y="7416981"/>
            <a:ext cx="4285021" cy="2190717"/>
          </a:xfrm>
          <a:custGeom>
            <a:rect b="b" l="l" r="r" t="t"/>
            <a:pathLst>
              <a:path extrusionOk="0" h="2190717" w="4285021">
                <a:moveTo>
                  <a:pt x="0" y="0"/>
                </a:moveTo>
                <a:lnTo>
                  <a:pt x="4285021" y="0"/>
                </a:lnTo>
                <a:lnTo>
                  <a:pt x="4285021" y="2190717"/>
                </a:lnTo>
                <a:lnTo>
                  <a:pt x="0" y="2190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4"/>
          <p:cNvSpPr txBox="1"/>
          <p:nvPr/>
        </p:nvSpPr>
        <p:spPr>
          <a:xfrm>
            <a:off x="1181100" y="1228725"/>
            <a:ext cx="10404166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Tecnologías utilizadas</a:t>
            </a:r>
            <a:endParaRPr/>
          </a:p>
        </p:txBody>
      </p:sp>
      <p:cxnSp>
        <p:nvCxnSpPr>
          <p:cNvPr id="226" name="Google Shape;226;p14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g3913aff3a0d_0_3" title="Untitled diagram-2025-12-02-2335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37400" y="152400"/>
            <a:ext cx="3348522" cy="998220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913aff3a0d_0_3"/>
          <p:cNvSpPr txBox="1"/>
          <p:nvPr/>
        </p:nvSpPr>
        <p:spPr>
          <a:xfrm>
            <a:off x="1050725" y="1782950"/>
            <a:ext cx="569130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Diagrama</a:t>
            </a:r>
            <a:endParaRPr b="1" sz="7000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de  agentes</a:t>
            </a:r>
            <a:endParaRPr b="1" sz="7000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3" name="Google Shape;233;g3913aff3a0d_0_3"/>
          <p:cNvCxnSpPr/>
          <p:nvPr/>
        </p:nvCxnSpPr>
        <p:spPr>
          <a:xfrm>
            <a:off x="1050725" y="4100975"/>
            <a:ext cx="462030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/>
        </p:nvSpPr>
        <p:spPr>
          <a:xfrm>
            <a:off x="4805284" y="3531262"/>
            <a:ext cx="8677432" cy="3985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A6ED8"/>
                </a:solidFill>
                <a:latin typeface="Montserrat"/>
                <a:ea typeface="Montserrat"/>
                <a:cs typeface="Montserrat"/>
                <a:sym typeface="Montserrat"/>
              </a:rPr>
              <a:t>DEMOSTRACIÓN DEL RESULTADO DEL PROYECTO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0" u="none" cap="none" strike="noStrike">
              <a:solidFill>
                <a:srgbClr val="0A6E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"/>
          <p:cNvSpPr/>
          <p:nvPr/>
        </p:nvSpPr>
        <p:spPr>
          <a:xfrm>
            <a:off x="11280585" y="1762894"/>
            <a:ext cx="6476778" cy="7344800"/>
          </a:xfrm>
          <a:custGeom>
            <a:rect b="b" l="l" r="r" t="t"/>
            <a:pathLst>
              <a:path extrusionOk="0" h="7344800" w="6476778">
                <a:moveTo>
                  <a:pt x="0" y="0"/>
                </a:moveTo>
                <a:lnTo>
                  <a:pt x="6476778" y="0"/>
                </a:lnTo>
                <a:lnTo>
                  <a:pt x="6476778" y="7344800"/>
                </a:lnTo>
                <a:lnTo>
                  <a:pt x="0" y="734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4" name="Google Shape;244;p16"/>
          <p:cNvSpPr txBox="1"/>
          <p:nvPr/>
        </p:nvSpPr>
        <p:spPr>
          <a:xfrm>
            <a:off x="1181100" y="1228725"/>
            <a:ext cx="8882587" cy="2004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Resultados obtenidos</a:t>
            </a:r>
            <a:endParaRPr/>
          </a:p>
        </p:txBody>
      </p:sp>
      <p:cxnSp>
        <p:nvCxnSpPr>
          <p:cNvPr id="245" name="Google Shape;245;p16"/>
          <p:cNvCxnSpPr/>
          <p:nvPr/>
        </p:nvCxnSpPr>
        <p:spPr>
          <a:xfrm>
            <a:off x="1181100" y="3546747"/>
            <a:ext cx="721110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16"/>
          <p:cNvSpPr txBox="1"/>
          <p:nvPr/>
        </p:nvSpPr>
        <p:spPr>
          <a:xfrm>
            <a:off x="1028700" y="3851561"/>
            <a:ext cx="8300027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El resultado del proyecto es mixto. Por un lado, la funcionalidad principal está operativa: el sistema utiliza la IA de OpenAI para evaluar asignaturas y los docentes pueden consultar secciones y notas. Sin embargo, persisten errores en el frontend, como notificaciones incorrectas, y el módulo de administración se postergó (está incompleto y sin testear). La IA ha mejorado significativamente; al inicio sus notas eran limitadas, pero ahora son más diversas gracias a rúbricas con "más libertad". Aún así, se requiere más optimización y adaptación a los continuos cambios de esta tecnología.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 txBox="1"/>
          <p:nvPr/>
        </p:nvSpPr>
        <p:spPr>
          <a:xfrm>
            <a:off x="1181100" y="1228725"/>
            <a:ext cx="1305000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Obstáculos presentados durante el desarrollo</a:t>
            </a:r>
            <a:endParaRPr/>
          </a:p>
        </p:txBody>
      </p:sp>
      <p:cxnSp>
        <p:nvCxnSpPr>
          <p:cNvPr id="252" name="Google Shape;252;p17"/>
          <p:cNvCxnSpPr/>
          <p:nvPr/>
        </p:nvCxnSpPr>
        <p:spPr>
          <a:xfrm>
            <a:off x="1254675" y="3512922"/>
            <a:ext cx="721110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7"/>
          <p:cNvSpPr/>
          <p:nvPr/>
        </p:nvSpPr>
        <p:spPr>
          <a:xfrm>
            <a:off x="12895176" y="3960576"/>
            <a:ext cx="4114800" cy="4114800"/>
          </a:xfrm>
          <a:custGeom>
            <a:rect b="b" l="l" r="r" t="t"/>
            <a:pathLst>
              <a:path extrusionOk="0"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17"/>
          <p:cNvSpPr txBox="1"/>
          <p:nvPr/>
        </p:nvSpPr>
        <p:spPr>
          <a:xfrm>
            <a:off x="1028700" y="3851561"/>
            <a:ext cx="83001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Falta de organización en la asignación de tareas entre el equipo.</a:t>
            </a:r>
            <a:endParaRPr/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Errores dentro de la implementación del sistema.</a:t>
            </a:r>
            <a:endParaRPr/>
          </a:p>
          <a:p>
            <a:pPr indent="-215900" lvl="1" marL="43180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07FE2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Falta de créditos en las APIS_KEY a la hora de evaluar con el agente.</a:t>
            </a:r>
            <a:endParaRPr/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307FE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/>
          <p:nvPr/>
        </p:nvSpPr>
        <p:spPr>
          <a:xfrm>
            <a:off x="10429875" y="0"/>
            <a:ext cx="7858125" cy="10287000"/>
          </a:xfrm>
          <a:custGeom>
            <a:rect b="b" l="l" r="r" t="t"/>
            <a:pathLst>
              <a:path extrusionOk="0" h="1593725" w="1217429">
                <a:moveTo>
                  <a:pt x="0" y="0"/>
                </a:moveTo>
                <a:lnTo>
                  <a:pt x="1217429" y="0"/>
                </a:lnTo>
                <a:lnTo>
                  <a:pt x="1217429" y="1593725"/>
                </a:lnTo>
                <a:lnTo>
                  <a:pt x="0" y="1593725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53" l="0" r="0" t="-253"/>
            </a:stretch>
          </a:blipFill>
          <a:ln>
            <a:noFill/>
          </a:ln>
        </p:spPr>
      </p:sp>
      <p:sp>
        <p:nvSpPr>
          <p:cNvPr id="260" name="Google Shape;260;p18"/>
          <p:cNvSpPr txBox="1"/>
          <p:nvPr/>
        </p:nvSpPr>
        <p:spPr>
          <a:xfrm>
            <a:off x="1181100" y="1228725"/>
            <a:ext cx="8882587" cy="1014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Conclusiones</a:t>
            </a:r>
            <a:endParaRPr/>
          </a:p>
        </p:txBody>
      </p:sp>
      <p:cxnSp>
        <p:nvCxnSpPr>
          <p:cNvPr id="261" name="Google Shape;261;p18"/>
          <p:cNvCxnSpPr/>
          <p:nvPr/>
        </p:nvCxnSpPr>
        <p:spPr>
          <a:xfrm>
            <a:off x="1157612" y="2393767"/>
            <a:ext cx="7211120" cy="0"/>
          </a:xfrm>
          <a:prstGeom prst="straightConnector1">
            <a:avLst/>
          </a:prstGeom>
          <a:noFill/>
          <a:ln cap="flat" cmpd="sng" w="19050">
            <a:solidFill>
              <a:srgbClr val="307F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18"/>
          <p:cNvSpPr txBox="1"/>
          <p:nvPr/>
        </p:nvSpPr>
        <p:spPr>
          <a:xfrm>
            <a:off x="1157612" y="2997599"/>
            <a:ext cx="881136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07FE2"/>
                </a:solidFill>
                <a:latin typeface="Montserrat"/>
                <a:ea typeface="Montserrat"/>
                <a:cs typeface="Montserrat"/>
                <a:sym typeface="Montserrat"/>
              </a:rPr>
              <a:t>La evaluación asistida por IA ha demostrado ser una solución eficaz para los desafíos actuales en la corrección de evaluaciones. Este enfoque no solo mejora la precisión y diversidad en la calificación, sino que también permite a los docentes mantener el control sobre el proceso educativo mientras se benefician de la asistencia tecnológica.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 txBox="1"/>
          <p:nvPr/>
        </p:nvSpPr>
        <p:spPr>
          <a:xfrm>
            <a:off x="3430246" y="3669664"/>
            <a:ext cx="11427508" cy="2995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A6ED8"/>
                </a:solidFill>
                <a:latin typeface="Montserrat"/>
                <a:ea typeface="Montserrat"/>
                <a:cs typeface="Montserrat"/>
                <a:sym typeface="Montserrat"/>
              </a:rPr>
              <a:t>PREGUNTAS DE LA COMISIÓN</a:t>
            </a:r>
            <a:endParaRPr/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0" u="none" cap="none" strike="noStrike">
              <a:solidFill>
                <a:srgbClr val="0A6ED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