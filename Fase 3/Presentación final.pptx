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y="10287000" cx="18288000"/>
  <p:notesSz cx="6858000" cy="9144000"/>
  <p:embeddedFontLst>
    <p:embeddedFont>
      <p:font typeface="Montserrat"/>
      <p:bold r:id="rId26"/>
      <p:boldItalic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28" roundtripDataSignature="AMtx7mi6VVAjxtXQvb4+qCgL7Ylo1OSBh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C084E46-ECF8-4E6A-96B3-51DBD29C3997}">
  <a:tblStyle styleId="{DC084E46-ECF8-4E6A-96B3-51DBD29C3997}" styleName="Table_0">
    <a:wholeTbl>
      <a:tcTxStyle>
        <a:font>
          <a:latin typeface="Arial"/>
          <a:ea typeface="Arial"/>
          <a:cs typeface="Arial"/>
        </a:font>
        <a:srgbClr val="000000"/>
      </a:tcTxStyle>
      <a:tcStyle>
        <a:tcBdr>
          <a:left>
            <a:ln cap="flat" cmpd="sng" w="6350">
              <a:solidFill>
                <a:srgbClr val="BFBFBF"/>
              </a:solidFill>
              <a:prstDash val="solid"/>
              <a:round/>
              <a:headEnd len="sm" w="sm" type="none"/>
              <a:tailEnd len="sm" w="sm" type="none"/>
            </a:ln>
          </a:left>
          <a:right>
            <a:ln cap="flat" cmpd="sng" w="6350">
              <a:solidFill>
                <a:srgbClr val="BFBFBF"/>
              </a:solidFill>
              <a:prstDash val="solid"/>
              <a:round/>
              <a:headEnd len="sm" w="sm" type="none"/>
              <a:tailEnd len="sm" w="sm" type="none"/>
            </a:ln>
          </a:right>
          <a:top>
            <a:ln cap="flat" cmpd="sng" w="6350">
              <a:solidFill>
                <a:srgbClr val="BFBFBF"/>
              </a:solidFill>
              <a:prstDash val="solid"/>
              <a:round/>
              <a:headEnd len="sm" w="sm" type="none"/>
              <a:tailEnd len="sm" w="sm" type="none"/>
            </a:ln>
          </a:top>
          <a:bottom>
            <a:ln cap="flat" cmpd="sng" w="6350">
              <a:solidFill>
                <a:srgbClr val="BFBFBF"/>
              </a:solidFill>
              <a:prstDash val="solid"/>
              <a:round/>
              <a:headEnd len="sm" w="sm" type="none"/>
              <a:tailEnd len="sm" w="sm" type="none"/>
            </a:ln>
          </a:bottom>
          <a:insideH>
            <a:ln cap="flat" cmpd="sng" w="6350">
              <a:solidFill>
                <a:srgbClr val="BFBFBF"/>
              </a:solidFill>
              <a:prstDash val="solid"/>
              <a:round/>
              <a:headEnd len="sm" w="sm" type="none"/>
              <a:tailEnd len="sm" w="sm" type="none"/>
            </a:ln>
          </a:insideH>
          <a:insideV>
            <a:ln cap="flat" cmpd="sng" w="6350">
              <a:solidFill>
                <a:srgbClr val="BFBFBF"/>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schemas.openxmlformats.org/officeDocument/2006/relationships/font" Target="fonts/Montserrat-bold.fntdata"/><Relationship Id="rId25" Type="http://schemas.openxmlformats.org/officeDocument/2006/relationships/slide" Target="slides/slide19.xml"/><Relationship Id="rId28" Type="http://customschemas.google.com/relationships/presentationmetadata" Target="metadata"/><Relationship Id="rId27" Type="http://schemas.openxmlformats.org/officeDocument/2006/relationships/font" Target="fonts/Montserrat-boldItalic.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5" name="Google Shape;185;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9" name="Google Shape;199;p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p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1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p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25" name="Google Shape;225;p1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 name="Shape 228"/>
        <p:cNvGrpSpPr/>
        <p:nvPr/>
      </p:nvGrpSpPr>
      <p:grpSpPr>
        <a:xfrm>
          <a:off x="0" y="0"/>
          <a:ext cx="0" cy="0"/>
          <a:chOff x="0" y="0"/>
          <a:chExt cx="0" cy="0"/>
        </a:xfrm>
      </p:grpSpPr>
      <p:sp>
        <p:nvSpPr>
          <p:cNvPr id="229" name="Google Shape;229;p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0" name="Google Shape;230;p1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 name="Shape 236"/>
        <p:cNvGrpSpPr/>
        <p:nvPr/>
      </p:nvGrpSpPr>
      <p:grpSpPr>
        <a:xfrm>
          <a:off x="0" y="0"/>
          <a:ext cx="0" cy="0"/>
          <a:chOff x="0" y="0"/>
          <a:chExt cx="0" cy="0"/>
        </a:xfrm>
      </p:grpSpPr>
      <p:sp>
        <p:nvSpPr>
          <p:cNvPr id="237" name="Google Shape;237;p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1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p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1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p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54" name="Google Shape;254;p1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22"/>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22"/>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2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2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2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23"/>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2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2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2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24"/>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24"/>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2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2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2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25"/>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25"/>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25"/>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2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2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2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2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26"/>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26"/>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26"/>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26"/>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2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2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2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2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2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2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2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28"/>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28"/>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28"/>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2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2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2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29"/>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29"/>
          <p:cNvSpPr/>
          <p:nvPr>
            <p:ph idx="2" type="pic"/>
          </p:nvPr>
        </p:nvSpPr>
        <p:spPr>
          <a:xfrm>
            <a:off x="1792288" y="612775"/>
            <a:ext cx="5486400" cy="4114800"/>
          </a:xfrm>
          <a:prstGeom prst="rect">
            <a:avLst/>
          </a:prstGeom>
          <a:noFill/>
          <a:ln>
            <a:noFill/>
          </a:ln>
        </p:spPr>
      </p:sp>
      <p:sp>
        <p:nvSpPr>
          <p:cNvPr id="64" name="Google Shape;64;p29"/>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2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2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3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30"/>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3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3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3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31"/>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31"/>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3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3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3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2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20"/>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2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2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2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6.jpg"/><Relationship Id="rId4" Type="http://schemas.openxmlformats.org/officeDocument/2006/relationships/image" Target="../media/image1.png"/><Relationship Id="rId5"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1.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4.png"/></Relationships>
</file>

<file path=ppt/slides/_rels/slide14.xml.rels><?xml version="1.0" encoding="UTF-8" standalone="yes"?><Relationships xmlns="http://schemas.openxmlformats.org/package/2006/relationships"><Relationship Id="rId11" Type="http://schemas.openxmlformats.org/officeDocument/2006/relationships/image" Target="../media/image28.png"/><Relationship Id="rId10" Type="http://schemas.openxmlformats.org/officeDocument/2006/relationships/image" Target="../media/image19.png"/><Relationship Id="rId13" Type="http://schemas.openxmlformats.org/officeDocument/2006/relationships/image" Target="../media/image20.png"/><Relationship Id="rId12" Type="http://schemas.openxmlformats.org/officeDocument/2006/relationships/image" Target="../media/image27.png"/><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7.png"/><Relationship Id="rId4" Type="http://schemas.openxmlformats.org/officeDocument/2006/relationships/image" Target="../media/image9.png"/><Relationship Id="rId9" Type="http://schemas.openxmlformats.org/officeDocument/2006/relationships/image" Target="../media/image8.png"/><Relationship Id="rId15" Type="http://schemas.openxmlformats.org/officeDocument/2006/relationships/image" Target="../media/image24.png"/><Relationship Id="rId14" Type="http://schemas.openxmlformats.org/officeDocument/2006/relationships/image" Target="../media/image23.png"/><Relationship Id="rId16" Type="http://schemas.openxmlformats.org/officeDocument/2006/relationships/image" Target="../media/image29.png"/><Relationship Id="rId5" Type="http://schemas.openxmlformats.org/officeDocument/2006/relationships/image" Target="../media/image13.png"/><Relationship Id="rId6" Type="http://schemas.openxmlformats.org/officeDocument/2006/relationships/image" Target="../media/image15.png"/><Relationship Id="rId7" Type="http://schemas.openxmlformats.org/officeDocument/2006/relationships/image" Target="../media/image12.png"/><Relationship Id="rId8"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6.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83" name="Shape 83"/>
        <p:cNvGrpSpPr/>
        <p:nvPr/>
      </p:nvGrpSpPr>
      <p:grpSpPr>
        <a:xfrm>
          <a:off x="0" y="0"/>
          <a:ext cx="0" cy="0"/>
          <a:chOff x="0" y="0"/>
          <a:chExt cx="0" cy="0"/>
        </a:xfrm>
      </p:grpSpPr>
      <p:grpSp>
        <p:nvGrpSpPr>
          <p:cNvPr id="84" name="Google Shape;84;p1"/>
          <p:cNvGrpSpPr/>
          <p:nvPr/>
        </p:nvGrpSpPr>
        <p:grpSpPr>
          <a:xfrm>
            <a:off x="0" y="-325487"/>
            <a:ext cx="5377756" cy="10716432"/>
            <a:chOff x="0" y="-85725"/>
            <a:chExt cx="1416364" cy="2822435"/>
          </a:xfrm>
        </p:grpSpPr>
        <p:sp>
          <p:nvSpPr>
            <p:cNvPr id="85" name="Google Shape;85;p1"/>
            <p:cNvSpPr/>
            <p:nvPr/>
          </p:nvSpPr>
          <p:spPr>
            <a:xfrm>
              <a:off x="0" y="0"/>
              <a:ext cx="1416364" cy="2736710"/>
            </a:xfrm>
            <a:custGeom>
              <a:rect b="b" l="l" r="r" t="t"/>
              <a:pathLst>
                <a:path extrusionOk="0" h="2736710" w="1416364">
                  <a:moveTo>
                    <a:pt x="0" y="0"/>
                  </a:moveTo>
                  <a:lnTo>
                    <a:pt x="1416364" y="0"/>
                  </a:lnTo>
                  <a:lnTo>
                    <a:pt x="1416364" y="2736710"/>
                  </a:lnTo>
                  <a:lnTo>
                    <a:pt x="0" y="2736710"/>
                  </a:lnTo>
                  <a:close/>
                </a:path>
              </a:pathLst>
            </a:custGeom>
            <a:solidFill>
              <a:srgbClr val="307FE2"/>
            </a:solidFill>
            <a:ln>
              <a:noFill/>
            </a:ln>
          </p:spPr>
        </p:sp>
        <p:sp>
          <p:nvSpPr>
            <p:cNvPr id="86" name="Google Shape;86;p1"/>
            <p:cNvSpPr txBox="1"/>
            <p:nvPr/>
          </p:nvSpPr>
          <p:spPr>
            <a:xfrm>
              <a:off x="0" y="-85725"/>
              <a:ext cx="1416364" cy="2822435"/>
            </a:xfrm>
            <a:prstGeom prst="rect">
              <a:avLst/>
            </a:prstGeom>
            <a:noFill/>
            <a:ln>
              <a:noFill/>
            </a:ln>
          </p:spPr>
          <p:txBody>
            <a:bodyPr anchorCtr="0" anchor="ctr" bIns="50800" lIns="50800" spcFirstLastPara="1" rIns="50800" wrap="square" tIns="50800">
              <a:noAutofit/>
            </a:bodyPr>
            <a:lstStyle/>
            <a:p>
              <a:pPr indent="0" lvl="0" marL="0" marR="0" rtl="0" algn="ctr">
                <a:lnSpc>
                  <a:spcPct val="153555"/>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87" name="Google Shape;87;p1"/>
          <p:cNvSpPr/>
          <p:nvPr/>
        </p:nvSpPr>
        <p:spPr>
          <a:xfrm>
            <a:off x="326571" y="3701899"/>
            <a:ext cx="4724614" cy="2000928"/>
          </a:xfrm>
          <a:custGeom>
            <a:rect b="b" l="l" r="r" t="t"/>
            <a:pathLst>
              <a:path extrusionOk="0" h="2000928" w="4724614">
                <a:moveTo>
                  <a:pt x="0" y="0"/>
                </a:moveTo>
                <a:lnTo>
                  <a:pt x="4724614" y="0"/>
                </a:lnTo>
                <a:lnTo>
                  <a:pt x="4724614" y="2000927"/>
                </a:lnTo>
                <a:lnTo>
                  <a:pt x="0" y="2000927"/>
                </a:lnTo>
                <a:lnTo>
                  <a:pt x="0" y="0"/>
                </a:lnTo>
                <a:close/>
              </a:path>
            </a:pathLst>
          </a:custGeom>
          <a:blipFill rotWithShape="1">
            <a:blip r:embed="rId3">
              <a:alphaModFix/>
            </a:blip>
            <a:stretch>
              <a:fillRect b="0" l="-24009" r="-22026" t="0"/>
            </a:stretch>
          </a:blipFill>
          <a:ln>
            <a:noFill/>
          </a:ln>
        </p:spPr>
      </p:sp>
      <p:sp>
        <p:nvSpPr>
          <p:cNvPr id="88" name="Google Shape;88;p1"/>
          <p:cNvSpPr txBox="1"/>
          <p:nvPr/>
        </p:nvSpPr>
        <p:spPr>
          <a:xfrm>
            <a:off x="6305525" y="3797150"/>
            <a:ext cx="11575200" cy="756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4912" u="none" cap="none" strike="noStrike">
                <a:solidFill>
                  <a:srgbClr val="000000"/>
                </a:solidFill>
                <a:latin typeface="Montserrat"/>
                <a:ea typeface="Montserrat"/>
                <a:cs typeface="Montserrat"/>
                <a:sym typeface="Montserrat"/>
              </a:rPr>
              <a:t>PRESENTACIÓN FINAL CAPSTONE</a:t>
            </a:r>
            <a:endParaRPr/>
          </a:p>
        </p:txBody>
      </p:sp>
      <p:sp>
        <p:nvSpPr>
          <p:cNvPr id="89" name="Google Shape;89;p1"/>
          <p:cNvSpPr txBox="1"/>
          <p:nvPr/>
        </p:nvSpPr>
        <p:spPr>
          <a:xfrm>
            <a:off x="6305519" y="4623549"/>
            <a:ext cx="10863412" cy="1171903"/>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4512" u="none" cap="none" strike="noStrike">
                <a:solidFill>
                  <a:srgbClr val="000000"/>
                </a:solidFill>
                <a:latin typeface="Montserrat"/>
                <a:ea typeface="Montserrat"/>
                <a:cs typeface="Montserrat"/>
                <a:sym typeface="Montserrat"/>
              </a:rPr>
              <a:t>para optar al título de Ingeniería en Informática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93" name="Shape 93"/>
        <p:cNvGrpSpPr/>
        <p:nvPr/>
      </p:nvGrpSpPr>
      <p:grpSpPr>
        <a:xfrm>
          <a:off x="0" y="0"/>
          <a:ext cx="0" cy="0"/>
          <a:chOff x="0" y="0"/>
          <a:chExt cx="0" cy="0"/>
        </a:xfrm>
      </p:grpSpPr>
      <p:grpSp>
        <p:nvGrpSpPr>
          <p:cNvPr id="94" name="Google Shape;94;p2"/>
          <p:cNvGrpSpPr/>
          <p:nvPr/>
        </p:nvGrpSpPr>
        <p:grpSpPr>
          <a:xfrm>
            <a:off x="12583672" y="-325487"/>
            <a:ext cx="5704328" cy="10716432"/>
            <a:chOff x="0" y="-85725"/>
            <a:chExt cx="1502374" cy="2822435"/>
          </a:xfrm>
        </p:grpSpPr>
        <p:sp>
          <p:nvSpPr>
            <p:cNvPr id="95" name="Google Shape;95;p2"/>
            <p:cNvSpPr/>
            <p:nvPr/>
          </p:nvSpPr>
          <p:spPr>
            <a:xfrm>
              <a:off x="0" y="0"/>
              <a:ext cx="1502374" cy="2736710"/>
            </a:xfrm>
            <a:custGeom>
              <a:rect b="b" l="l" r="r" t="t"/>
              <a:pathLst>
                <a:path extrusionOk="0" h="2736710" w="1502374">
                  <a:moveTo>
                    <a:pt x="0" y="0"/>
                  </a:moveTo>
                  <a:lnTo>
                    <a:pt x="1502374" y="0"/>
                  </a:lnTo>
                  <a:lnTo>
                    <a:pt x="1502374" y="2736710"/>
                  </a:lnTo>
                  <a:lnTo>
                    <a:pt x="0" y="2736710"/>
                  </a:lnTo>
                  <a:close/>
                </a:path>
              </a:pathLst>
            </a:custGeom>
            <a:solidFill>
              <a:srgbClr val="307FE2"/>
            </a:solidFill>
            <a:ln>
              <a:noFill/>
            </a:ln>
          </p:spPr>
        </p:sp>
        <p:sp>
          <p:nvSpPr>
            <p:cNvPr id="96" name="Google Shape;96;p2"/>
            <p:cNvSpPr txBox="1"/>
            <p:nvPr/>
          </p:nvSpPr>
          <p:spPr>
            <a:xfrm>
              <a:off x="0" y="-85725"/>
              <a:ext cx="1502374" cy="2822435"/>
            </a:xfrm>
            <a:prstGeom prst="rect">
              <a:avLst/>
            </a:prstGeom>
            <a:noFill/>
            <a:ln>
              <a:noFill/>
            </a:ln>
          </p:spPr>
          <p:txBody>
            <a:bodyPr anchorCtr="0" anchor="ctr" bIns="50800" lIns="50800" spcFirstLastPara="1" rIns="50800" wrap="square" tIns="50800">
              <a:noAutofit/>
            </a:bodyPr>
            <a:lstStyle/>
            <a:p>
              <a:pPr indent="0" lvl="0" marL="0" marR="0" rtl="0" algn="ctr">
                <a:lnSpc>
                  <a:spcPct val="153555"/>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97" name="Google Shape;97;p2"/>
          <p:cNvGrpSpPr/>
          <p:nvPr/>
        </p:nvGrpSpPr>
        <p:grpSpPr>
          <a:xfrm>
            <a:off x="1149016" y="329948"/>
            <a:ext cx="10310704" cy="3222477"/>
            <a:chOff x="0" y="-85725"/>
            <a:chExt cx="2715576" cy="848718"/>
          </a:xfrm>
        </p:grpSpPr>
        <p:sp>
          <p:nvSpPr>
            <p:cNvPr id="98" name="Google Shape;98;p2"/>
            <p:cNvSpPr/>
            <p:nvPr/>
          </p:nvSpPr>
          <p:spPr>
            <a:xfrm>
              <a:off x="0" y="0"/>
              <a:ext cx="2715576" cy="762993"/>
            </a:xfrm>
            <a:custGeom>
              <a:rect b="b" l="l" r="r" t="t"/>
              <a:pathLst>
                <a:path extrusionOk="0" h="762993" w="2715576">
                  <a:moveTo>
                    <a:pt x="0" y="0"/>
                  </a:moveTo>
                  <a:lnTo>
                    <a:pt x="2715576" y="0"/>
                  </a:lnTo>
                  <a:lnTo>
                    <a:pt x="2715576" y="762993"/>
                  </a:lnTo>
                  <a:lnTo>
                    <a:pt x="0" y="762993"/>
                  </a:lnTo>
                  <a:close/>
                </a:path>
              </a:pathLst>
            </a:custGeom>
            <a:solidFill>
              <a:srgbClr val="307FE2"/>
            </a:solidFill>
            <a:ln>
              <a:noFill/>
            </a:ln>
          </p:spPr>
        </p:sp>
        <p:sp>
          <p:nvSpPr>
            <p:cNvPr id="99" name="Google Shape;99;p2"/>
            <p:cNvSpPr txBox="1"/>
            <p:nvPr/>
          </p:nvSpPr>
          <p:spPr>
            <a:xfrm>
              <a:off x="0" y="-85725"/>
              <a:ext cx="2715576" cy="848718"/>
            </a:xfrm>
            <a:prstGeom prst="rect">
              <a:avLst/>
            </a:prstGeom>
            <a:noFill/>
            <a:ln>
              <a:noFill/>
            </a:ln>
          </p:spPr>
          <p:txBody>
            <a:bodyPr anchorCtr="0" anchor="ctr" bIns="50800" lIns="50800" spcFirstLastPara="1" rIns="50800" wrap="square" tIns="50800">
              <a:noAutofit/>
            </a:bodyPr>
            <a:lstStyle/>
            <a:p>
              <a:pPr indent="0" lvl="0" marL="0" marR="0" rtl="0" algn="ctr">
                <a:lnSpc>
                  <a:spcPct val="153555"/>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100" name="Google Shape;100;p2"/>
          <p:cNvGrpSpPr/>
          <p:nvPr/>
        </p:nvGrpSpPr>
        <p:grpSpPr>
          <a:xfrm>
            <a:off x="1149016" y="3421490"/>
            <a:ext cx="10310704" cy="3222477"/>
            <a:chOff x="0" y="-85725"/>
            <a:chExt cx="2715576" cy="848718"/>
          </a:xfrm>
        </p:grpSpPr>
        <p:sp>
          <p:nvSpPr>
            <p:cNvPr id="101" name="Google Shape;101;p2"/>
            <p:cNvSpPr/>
            <p:nvPr/>
          </p:nvSpPr>
          <p:spPr>
            <a:xfrm>
              <a:off x="0" y="0"/>
              <a:ext cx="2715576" cy="762993"/>
            </a:xfrm>
            <a:custGeom>
              <a:rect b="b" l="l" r="r" t="t"/>
              <a:pathLst>
                <a:path extrusionOk="0" h="762993" w="2715576">
                  <a:moveTo>
                    <a:pt x="0" y="0"/>
                  </a:moveTo>
                  <a:lnTo>
                    <a:pt x="2715576" y="0"/>
                  </a:lnTo>
                  <a:lnTo>
                    <a:pt x="2715576" y="762993"/>
                  </a:lnTo>
                  <a:lnTo>
                    <a:pt x="0" y="762993"/>
                  </a:lnTo>
                  <a:close/>
                </a:path>
              </a:pathLst>
            </a:custGeom>
            <a:solidFill>
              <a:srgbClr val="307FE2"/>
            </a:solidFill>
            <a:ln>
              <a:noFill/>
            </a:ln>
          </p:spPr>
        </p:sp>
        <p:sp>
          <p:nvSpPr>
            <p:cNvPr id="102" name="Google Shape;102;p2"/>
            <p:cNvSpPr txBox="1"/>
            <p:nvPr/>
          </p:nvSpPr>
          <p:spPr>
            <a:xfrm>
              <a:off x="0" y="-85725"/>
              <a:ext cx="2715576" cy="848718"/>
            </a:xfrm>
            <a:prstGeom prst="rect">
              <a:avLst/>
            </a:prstGeom>
            <a:noFill/>
            <a:ln>
              <a:noFill/>
            </a:ln>
          </p:spPr>
          <p:txBody>
            <a:bodyPr anchorCtr="0" anchor="ctr" bIns="50800" lIns="50800" spcFirstLastPara="1" rIns="50800" wrap="square" tIns="50800">
              <a:noAutofit/>
            </a:bodyPr>
            <a:lstStyle/>
            <a:p>
              <a:pPr indent="0" lvl="0" marL="0" marR="0" rtl="0" algn="ctr">
                <a:lnSpc>
                  <a:spcPct val="153555"/>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grpSp>
        <p:nvGrpSpPr>
          <p:cNvPr id="103" name="Google Shape;103;p2"/>
          <p:cNvGrpSpPr/>
          <p:nvPr/>
        </p:nvGrpSpPr>
        <p:grpSpPr>
          <a:xfrm>
            <a:off x="1149016" y="6513033"/>
            <a:ext cx="10310704" cy="3222477"/>
            <a:chOff x="0" y="-85725"/>
            <a:chExt cx="2715576" cy="848718"/>
          </a:xfrm>
        </p:grpSpPr>
        <p:sp>
          <p:nvSpPr>
            <p:cNvPr id="104" name="Google Shape;104;p2"/>
            <p:cNvSpPr/>
            <p:nvPr/>
          </p:nvSpPr>
          <p:spPr>
            <a:xfrm>
              <a:off x="0" y="0"/>
              <a:ext cx="2715576" cy="762993"/>
            </a:xfrm>
            <a:custGeom>
              <a:rect b="b" l="l" r="r" t="t"/>
              <a:pathLst>
                <a:path extrusionOk="0" h="762993" w="2715576">
                  <a:moveTo>
                    <a:pt x="0" y="0"/>
                  </a:moveTo>
                  <a:lnTo>
                    <a:pt x="2715576" y="0"/>
                  </a:lnTo>
                  <a:lnTo>
                    <a:pt x="2715576" y="762993"/>
                  </a:lnTo>
                  <a:lnTo>
                    <a:pt x="0" y="762993"/>
                  </a:lnTo>
                  <a:close/>
                </a:path>
              </a:pathLst>
            </a:custGeom>
            <a:solidFill>
              <a:srgbClr val="307FE2"/>
            </a:solidFill>
            <a:ln>
              <a:noFill/>
            </a:ln>
          </p:spPr>
        </p:sp>
        <p:sp>
          <p:nvSpPr>
            <p:cNvPr id="105" name="Google Shape;105;p2"/>
            <p:cNvSpPr txBox="1"/>
            <p:nvPr/>
          </p:nvSpPr>
          <p:spPr>
            <a:xfrm>
              <a:off x="0" y="-85725"/>
              <a:ext cx="2715576" cy="848718"/>
            </a:xfrm>
            <a:prstGeom prst="rect">
              <a:avLst/>
            </a:prstGeom>
            <a:noFill/>
            <a:ln>
              <a:noFill/>
            </a:ln>
          </p:spPr>
          <p:txBody>
            <a:bodyPr anchorCtr="0" anchor="ctr" bIns="50800" lIns="50800" spcFirstLastPara="1" rIns="50800" wrap="square" tIns="50800">
              <a:noAutofit/>
            </a:bodyPr>
            <a:lstStyle/>
            <a:p>
              <a:pPr indent="0" lvl="0" marL="0" marR="0" rtl="0" algn="ctr">
                <a:lnSpc>
                  <a:spcPct val="153555"/>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106" name="Google Shape;106;p2"/>
          <p:cNvSpPr/>
          <p:nvPr/>
        </p:nvSpPr>
        <p:spPr>
          <a:xfrm>
            <a:off x="1440731" y="855782"/>
            <a:ext cx="2496794" cy="2496295"/>
          </a:xfrm>
          <a:custGeom>
            <a:rect b="b" l="l" r="r" t="t"/>
            <a:pathLst>
              <a:path extrusionOk="0" h="6350000" w="6351270">
                <a:moveTo>
                  <a:pt x="5985510" y="0"/>
                </a:moveTo>
                <a:lnTo>
                  <a:pt x="364490" y="0"/>
                </a:lnTo>
                <a:cubicBezTo>
                  <a:pt x="162560" y="0"/>
                  <a:pt x="0" y="162560"/>
                  <a:pt x="0" y="364490"/>
                </a:cubicBezTo>
                <a:lnTo>
                  <a:pt x="0" y="5986780"/>
                </a:lnTo>
                <a:cubicBezTo>
                  <a:pt x="0" y="6187440"/>
                  <a:pt x="162560" y="6350000"/>
                  <a:pt x="364490" y="6350000"/>
                </a:cubicBezTo>
                <a:lnTo>
                  <a:pt x="5986780" y="6350000"/>
                </a:lnTo>
                <a:cubicBezTo>
                  <a:pt x="6187440" y="6350000"/>
                  <a:pt x="6351270" y="6187440"/>
                  <a:pt x="6351270" y="5985510"/>
                </a:cubicBezTo>
                <a:lnTo>
                  <a:pt x="6351270" y="364490"/>
                </a:lnTo>
                <a:cubicBezTo>
                  <a:pt x="6350000" y="162560"/>
                  <a:pt x="6187440" y="0"/>
                  <a:pt x="5985510" y="0"/>
                </a:cubicBezTo>
                <a:close/>
              </a:path>
            </a:pathLst>
          </a:custGeom>
          <a:blipFill rotWithShape="1">
            <a:blip r:embed="rId3">
              <a:alphaModFix/>
            </a:blip>
            <a:stretch>
              <a:fillRect b="-8" l="0" r="0" t="-9"/>
            </a:stretch>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2"/>
          <p:cNvSpPr/>
          <p:nvPr/>
        </p:nvSpPr>
        <p:spPr>
          <a:xfrm>
            <a:off x="1440731" y="3895353"/>
            <a:ext cx="2496794" cy="2496295"/>
          </a:xfrm>
          <a:custGeom>
            <a:rect b="b" l="l" r="r" t="t"/>
            <a:pathLst>
              <a:path extrusionOk="0" h="6350000" w="6351270">
                <a:moveTo>
                  <a:pt x="5985510" y="0"/>
                </a:moveTo>
                <a:lnTo>
                  <a:pt x="364490" y="0"/>
                </a:lnTo>
                <a:cubicBezTo>
                  <a:pt x="162560" y="0"/>
                  <a:pt x="0" y="162560"/>
                  <a:pt x="0" y="364490"/>
                </a:cubicBezTo>
                <a:lnTo>
                  <a:pt x="0" y="5986780"/>
                </a:lnTo>
                <a:cubicBezTo>
                  <a:pt x="0" y="6187440"/>
                  <a:pt x="162560" y="6350000"/>
                  <a:pt x="364490" y="6350000"/>
                </a:cubicBezTo>
                <a:lnTo>
                  <a:pt x="5986780" y="6350000"/>
                </a:lnTo>
                <a:cubicBezTo>
                  <a:pt x="6187440" y="6350000"/>
                  <a:pt x="6351270" y="6187440"/>
                  <a:pt x="6351270" y="5985510"/>
                </a:cubicBezTo>
                <a:lnTo>
                  <a:pt x="6351270" y="364490"/>
                </a:lnTo>
                <a:cubicBezTo>
                  <a:pt x="6350000" y="162560"/>
                  <a:pt x="6187440" y="0"/>
                  <a:pt x="5985510" y="0"/>
                </a:cubicBezTo>
                <a:close/>
              </a:path>
            </a:pathLst>
          </a:custGeom>
          <a:blipFill rotWithShape="1">
            <a:blip r:embed="rId4">
              <a:alphaModFix/>
            </a:blip>
            <a:stretch>
              <a:fillRect b="-1256" l="0" r="0" t="-1256"/>
            </a:stretch>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2"/>
          <p:cNvSpPr/>
          <p:nvPr/>
        </p:nvSpPr>
        <p:spPr>
          <a:xfrm>
            <a:off x="1440731" y="7034493"/>
            <a:ext cx="2496794" cy="2481725"/>
          </a:xfrm>
          <a:custGeom>
            <a:rect b="b" l="l" r="r" t="t"/>
            <a:pathLst>
              <a:path extrusionOk="0" h="6312937" w="6351270">
                <a:moveTo>
                  <a:pt x="5985510" y="0"/>
                </a:moveTo>
                <a:lnTo>
                  <a:pt x="364490" y="0"/>
                </a:lnTo>
                <a:cubicBezTo>
                  <a:pt x="162560" y="0"/>
                  <a:pt x="0" y="161611"/>
                  <a:pt x="0" y="362363"/>
                </a:cubicBezTo>
                <a:lnTo>
                  <a:pt x="0" y="5951837"/>
                </a:lnTo>
                <a:cubicBezTo>
                  <a:pt x="0" y="6151326"/>
                  <a:pt x="162560" y="6312937"/>
                  <a:pt x="364490" y="6312937"/>
                </a:cubicBezTo>
                <a:lnTo>
                  <a:pt x="5986780" y="6312937"/>
                </a:lnTo>
                <a:cubicBezTo>
                  <a:pt x="6187440" y="6312937"/>
                  <a:pt x="6351270" y="6151326"/>
                  <a:pt x="6351270" y="5950574"/>
                </a:cubicBezTo>
                <a:lnTo>
                  <a:pt x="6351270" y="362363"/>
                </a:lnTo>
                <a:cubicBezTo>
                  <a:pt x="6350000" y="161611"/>
                  <a:pt x="6187440" y="0"/>
                  <a:pt x="5985510" y="0"/>
                </a:cubicBezTo>
                <a:close/>
              </a:path>
            </a:pathLst>
          </a:custGeom>
          <a:blipFill rotWithShape="1">
            <a:blip r:embed="rId5">
              <a:alphaModFix/>
            </a:blip>
            <a:stretch>
              <a:fillRect b="-17911" l="0" r="0" t="-17912"/>
            </a:stretch>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2"/>
          <p:cNvSpPr txBox="1"/>
          <p:nvPr/>
        </p:nvSpPr>
        <p:spPr>
          <a:xfrm>
            <a:off x="12721000" y="4604850"/>
            <a:ext cx="5429700" cy="1077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6999" u="none" cap="none" strike="noStrike">
                <a:solidFill>
                  <a:srgbClr val="FFFFFF"/>
                </a:solidFill>
                <a:latin typeface="Montserrat"/>
                <a:ea typeface="Montserrat"/>
                <a:cs typeface="Montserrat"/>
                <a:sym typeface="Montserrat"/>
              </a:rPr>
              <a:t>Integrantes</a:t>
            </a:r>
            <a:endParaRPr/>
          </a:p>
        </p:txBody>
      </p:sp>
      <p:grpSp>
        <p:nvGrpSpPr>
          <p:cNvPr id="110" name="Google Shape;110;p2"/>
          <p:cNvGrpSpPr/>
          <p:nvPr/>
        </p:nvGrpSpPr>
        <p:grpSpPr>
          <a:xfrm>
            <a:off x="4268345" y="1021556"/>
            <a:ext cx="6641360" cy="2064544"/>
            <a:chOff x="0" y="-9525"/>
            <a:chExt cx="8855147" cy="2752725"/>
          </a:xfrm>
        </p:grpSpPr>
        <p:sp>
          <p:nvSpPr>
            <p:cNvPr id="111" name="Google Shape;111;p2"/>
            <p:cNvSpPr txBox="1"/>
            <p:nvPr/>
          </p:nvSpPr>
          <p:spPr>
            <a:xfrm>
              <a:off x="0" y="-9525"/>
              <a:ext cx="4546695" cy="720725"/>
            </a:xfrm>
            <a:prstGeom prst="rect">
              <a:avLst/>
            </a:prstGeom>
            <a:noFill/>
            <a:ln>
              <a:noFill/>
            </a:ln>
          </p:spPr>
          <p:txBody>
            <a:bodyPr anchorCtr="0" anchor="t" bIns="0" lIns="0" spcFirstLastPara="1" rIns="0" wrap="square" tIns="0">
              <a:spAutoFit/>
            </a:bodyPr>
            <a:lstStyle/>
            <a:p>
              <a:pPr indent="0" lvl="0" marL="0" marR="0" rtl="0" algn="just">
                <a:lnSpc>
                  <a:spcPct val="120000"/>
                </a:lnSpc>
                <a:spcBef>
                  <a:spcPts val="0"/>
                </a:spcBef>
                <a:spcAft>
                  <a:spcPts val="0"/>
                </a:spcAft>
                <a:buNone/>
              </a:pPr>
              <a:r>
                <a:rPr b="1" i="0" lang="en-US" sz="3500" u="none" cap="none" strike="noStrike">
                  <a:solidFill>
                    <a:srgbClr val="FFFFFF"/>
                  </a:solidFill>
                  <a:latin typeface="Montserrat"/>
                  <a:ea typeface="Montserrat"/>
                  <a:cs typeface="Montserrat"/>
                  <a:sym typeface="Montserrat"/>
                </a:rPr>
                <a:t>Benjamín Ruiz</a:t>
              </a:r>
              <a:endParaRPr/>
            </a:p>
          </p:txBody>
        </p:sp>
        <p:sp>
          <p:nvSpPr>
            <p:cNvPr id="112" name="Google Shape;112;p2"/>
            <p:cNvSpPr txBox="1"/>
            <p:nvPr/>
          </p:nvSpPr>
          <p:spPr>
            <a:xfrm>
              <a:off x="0" y="711200"/>
              <a:ext cx="8855147" cy="2032000"/>
            </a:xfrm>
            <a:prstGeom prst="rect">
              <a:avLst/>
            </a:prstGeom>
            <a:noFill/>
            <a:ln>
              <a:noFill/>
            </a:ln>
          </p:spPr>
          <p:txBody>
            <a:bodyPr anchorCtr="0" anchor="t" bIns="0" lIns="0" spcFirstLastPara="1" rIns="0" wrap="square" tIns="0">
              <a:spAutoFit/>
            </a:bodyPr>
            <a:lstStyle/>
            <a:p>
              <a:pPr indent="-215900" lvl="1" marL="431801" marR="0" rtl="0" algn="just">
                <a:lnSpc>
                  <a:spcPct val="120000"/>
                </a:lnSpc>
                <a:spcBef>
                  <a:spcPts val="0"/>
                </a:spcBef>
                <a:spcAft>
                  <a:spcPts val="0"/>
                </a:spcAft>
                <a:buClr>
                  <a:srgbClr val="FFFFFF"/>
                </a:buClr>
                <a:buSzPts val="2000"/>
                <a:buFont typeface="Arial"/>
                <a:buChar char="•"/>
              </a:pPr>
              <a:r>
                <a:rPr b="1" i="0" lang="en-US" sz="2000" u="none" cap="none" strike="noStrike">
                  <a:solidFill>
                    <a:srgbClr val="FFFFFF"/>
                  </a:solidFill>
                  <a:latin typeface="Montserrat"/>
                  <a:ea typeface="Montserrat"/>
                  <a:cs typeface="Montserrat"/>
                  <a:sym typeface="Montserrat"/>
                </a:rPr>
                <a:t>Scrum Master, Integrante de backend</a:t>
              </a:r>
              <a:endParaRPr/>
            </a:p>
            <a:p>
              <a:pPr indent="-215900" lvl="1" marL="431801" marR="0" rtl="0" algn="just">
                <a:lnSpc>
                  <a:spcPct val="120000"/>
                </a:lnSpc>
                <a:spcBef>
                  <a:spcPts val="0"/>
                </a:spcBef>
                <a:spcAft>
                  <a:spcPts val="0"/>
                </a:spcAft>
                <a:buClr>
                  <a:srgbClr val="FFFFFF"/>
                </a:buClr>
                <a:buSzPts val="2000"/>
                <a:buFont typeface="Arial"/>
                <a:buChar char="•"/>
              </a:pPr>
              <a:r>
                <a:rPr b="1" i="0" lang="en-US" sz="2000" u="none" cap="none" strike="noStrike">
                  <a:solidFill>
                    <a:srgbClr val="FFFFFF"/>
                  </a:solidFill>
                  <a:latin typeface="Montserrat"/>
                  <a:ea typeface="Montserrat"/>
                  <a:cs typeface="Montserrat"/>
                  <a:sym typeface="Montserrat"/>
                </a:rPr>
                <a:t>Creación y mantención  de  arquitectura  en la nube, Asignacion de tareas, creacion de endpoints, Creacion de pipelines de despliegue </a:t>
              </a:r>
              <a:endParaRPr/>
            </a:p>
          </p:txBody>
        </p:sp>
      </p:grpSp>
      <p:grpSp>
        <p:nvGrpSpPr>
          <p:cNvPr id="113" name="Google Shape;113;p2"/>
          <p:cNvGrpSpPr/>
          <p:nvPr/>
        </p:nvGrpSpPr>
        <p:grpSpPr>
          <a:xfrm>
            <a:off x="4268345" y="7246424"/>
            <a:ext cx="6641325" cy="1956694"/>
            <a:chOff x="0" y="-9525"/>
            <a:chExt cx="8855100" cy="2608925"/>
          </a:xfrm>
        </p:grpSpPr>
        <p:sp>
          <p:nvSpPr>
            <p:cNvPr id="114" name="Google Shape;114;p2"/>
            <p:cNvSpPr txBox="1"/>
            <p:nvPr/>
          </p:nvSpPr>
          <p:spPr>
            <a:xfrm>
              <a:off x="0" y="-9525"/>
              <a:ext cx="4546695" cy="720725"/>
            </a:xfrm>
            <a:prstGeom prst="rect">
              <a:avLst/>
            </a:prstGeom>
            <a:noFill/>
            <a:ln>
              <a:noFill/>
            </a:ln>
          </p:spPr>
          <p:txBody>
            <a:bodyPr anchorCtr="0" anchor="t" bIns="0" lIns="0" spcFirstLastPara="1" rIns="0" wrap="square" tIns="0">
              <a:spAutoFit/>
            </a:bodyPr>
            <a:lstStyle/>
            <a:p>
              <a:pPr indent="0" lvl="0" marL="0" marR="0" rtl="0" algn="just">
                <a:lnSpc>
                  <a:spcPct val="120000"/>
                </a:lnSpc>
                <a:spcBef>
                  <a:spcPts val="0"/>
                </a:spcBef>
                <a:spcAft>
                  <a:spcPts val="0"/>
                </a:spcAft>
                <a:buNone/>
              </a:pPr>
              <a:r>
                <a:rPr b="1" i="0" lang="en-US" sz="3500" u="none" cap="none" strike="noStrike">
                  <a:solidFill>
                    <a:srgbClr val="FFFFFF"/>
                  </a:solidFill>
                  <a:latin typeface="Montserrat"/>
                  <a:ea typeface="Montserrat"/>
                  <a:cs typeface="Montserrat"/>
                  <a:sym typeface="Montserrat"/>
                </a:rPr>
                <a:t>Matías Soto</a:t>
              </a:r>
              <a:endParaRPr/>
            </a:p>
          </p:txBody>
        </p:sp>
        <p:sp>
          <p:nvSpPr>
            <p:cNvPr id="115" name="Google Shape;115;p2"/>
            <p:cNvSpPr txBox="1"/>
            <p:nvPr/>
          </p:nvSpPr>
          <p:spPr>
            <a:xfrm>
              <a:off x="0" y="711200"/>
              <a:ext cx="8855100" cy="1888200"/>
            </a:xfrm>
            <a:prstGeom prst="rect">
              <a:avLst/>
            </a:prstGeom>
            <a:noFill/>
            <a:ln>
              <a:noFill/>
            </a:ln>
          </p:spPr>
          <p:txBody>
            <a:bodyPr anchorCtr="0" anchor="t" bIns="0" lIns="0" spcFirstLastPara="1" rIns="0" wrap="square" tIns="0">
              <a:spAutoFit/>
            </a:bodyPr>
            <a:lstStyle/>
            <a:p>
              <a:pPr indent="-215900" lvl="1" marL="431801" marR="0" rtl="0" algn="just">
                <a:lnSpc>
                  <a:spcPct val="120000"/>
                </a:lnSpc>
                <a:spcBef>
                  <a:spcPts val="0"/>
                </a:spcBef>
                <a:spcAft>
                  <a:spcPts val="0"/>
                </a:spcAft>
                <a:buClr>
                  <a:srgbClr val="FFFFFF"/>
                </a:buClr>
                <a:buSzPts val="2000"/>
                <a:buFont typeface="Arial"/>
                <a:buChar char="•"/>
              </a:pPr>
              <a:r>
                <a:rPr b="1" i="0" lang="en-US" sz="2000" u="none" cap="none" strike="noStrike">
                  <a:solidFill>
                    <a:srgbClr val="FFFFFF"/>
                  </a:solidFill>
                  <a:latin typeface="Montserrat"/>
                  <a:ea typeface="Montserrat"/>
                  <a:cs typeface="Montserrat"/>
                  <a:sym typeface="Montserrat"/>
                </a:rPr>
                <a:t>Integrante de frontend</a:t>
              </a:r>
              <a:endParaRPr/>
            </a:p>
            <a:p>
              <a:pPr indent="-215900" lvl="1" marL="431801" marR="0" rtl="0" algn="just">
                <a:lnSpc>
                  <a:spcPct val="120000"/>
                </a:lnSpc>
                <a:spcBef>
                  <a:spcPts val="0"/>
                </a:spcBef>
                <a:spcAft>
                  <a:spcPts val="0"/>
                </a:spcAft>
                <a:buClr>
                  <a:srgbClr val="FFFFFF"/>
                </a:buClr>
                <a:buSzPts val="2000"/>
                <a:buFont typeface="Arial"/>
                <a:buChar char="•"/>
              </a:pPr>
              <a:r>
                <a:rPr b="1" lang="en-US" sz="2000">
                  <a:solidFill>
                    <a:srgbClr val="FFFFFF"/>
                  </a:solidFill>
                  <a:latin typeface="Montserrat"/>
                  <a:ea typeface="Montserrat"/>
                  <a:cs typeface="Montserrat"/>
                  <a:sym typeface="Montserrat"/>
                </a:rPr>
                <a:t>Creación y modificación del diseño del sistema, corrección de errores del FrontEnd, Integración y consumo de datos del Backend.</a:t>
              </a:r>
              <a:endParaRPr/>
            </a:p>
          </p:txBody>
        </p:sp>
      </p:grpSp>
      <p:sp>
        <p:nvSpPr>
          <p:cNvPr id="116" name="Google Shape;116;p2"/>
          <p:cNvSpPr txBox="1"/>
          <p:nvPr/>
        </p:nvSpPr>
        <p:spPr>
          <a:xfrm>
            <a:off x="4268345" y="4157248"/>
            <a:ext cx="4320984" cy="1076325"/>
          </a:xfrm>
          <a:prstGeom prst="rect">
            <a:avLst/>
          </a:prstGeom>
          <a:noFill/>
          <a:ln>
            <a:noFill/>
          </a:ln>
        </p:spPr>
        <p:txBody>
          <a:bodyPr anchorCtr="0" anchor="t" bIns="0" lIns="0" spcFirstLastPara="1" rIns="0" wrap="square" tIns="0">
            <a:spAutoFit/>
          </a:bodyPr>
          <a:lstStyle/>
          <a:p>
            <a:pPr indent="0" lvl="0" marL="0" marR="0" rtl="0" algn="just">
              <a:lnSpc>
                <a:spcPct val="120000"/>
              </a:lnSpc>
              <a:spcBef>
                <a:spcPts val="0"/>
              </a:spcBef>
              <a:spcAft>
                <a:spcPts val="0"/>
              </a:spcAft>
              <a:buNone/>
            </a:pPr>
            <a:r>
              <a:rPr b="1" i="0" lang="en-US" sz="3500" u="none" cap="none" strike="noStrike">
                <a:solidFill>
                  <a:srgbClr val="FFFFFF"/>
                </a:solidFill>
                <a:latin typeface="Montserrat"/>
                <a:ea typeface="Montserrat"/>
                <a:cs typeface="Montserrat"/>
                <a:sym typeface="Montserrat"/>
              </a:rPr>
              <a:t>Cristian Mansilla</a:t>
            </a:r>
            <a:endParaRPr/>
          </a:p>
          <a:p>
            <a:pPr indent="0" lvl="0" marL="0" marR="0" rtl="0" algn="just">
              <a:lnSpc>
                <a:spcPct val="120000"/>
              </a:lnSpc>
              <a:spcBef>
                <a:spcPts val="0"/>
              </a:spcBef>
              <a:spcAft>
                <a:spcPts val="0"/>
              </a:spcAft>
              <a:buNone/>
            </a:pPr>
            <a:r>
              <a:t/>
            </a:r>
            <a:endParaRPr b="1" i="0" sz="3500" u="none" cap="none" strike="noStrike">
              <a:solidFill>
                <a:srgbClr val="FFFFFF"/>
              </a:solidFill>
              <a:latin typeface="Montserrat"/>
              <a:ea typeface="Montserrat"/>
              <a:cs typeface="Montserrat"/>
              <a:sym typeface="Montserrat"/>
            </a:endParaRPr>
          </a:p>
        </p:txBody>
      </p:sp>
      <p:sp>
        <p:nvSpPr>
          <p:cNvPr id="117" name="Google Shape;117;p2"/>
          <p:cNvSpPr txBox="1"/>
          <p:nvPr/>
        </p:nvSpPr>
        <p:spPr>
          <a:xfrm>
            <a:off x="4268345" y="4700173"/>
            <a:ext cx="6641360" cy="914400"/>
          </a:xfrm>
          <a:prstGeom prst="rect">
            <a:avLst/>
          </a:prstGeom>
          <a:noFill/>
          <a:ln>
            <a:noFill/>
          </a:ln>
        </p:spPr>
        <p:txBody>
          <a:bodyPr anchorCtr="0" anchor="t" bIns="0" lIns="0" spcFirstLastPara="1" rIns="0" wrap="square" tIns="0">
            <a:spAutoFit/>
          </a:bodyPr>
          <a:lstStyle/>
          <a:p>
            <a:pPr indent="-215900" lvl="1" marL="431801" marR="0" rtl="0" algn="just">
              <a:lnSpc>
                <a:spcPct val="120000"/>
              </a:lnSpc>
              <a:spcBef>
                <a:spcPts val="0"/>
              </a:spcBef>
              <a:spcAft>
                <a:spcPts val="0"/>
              </a:spcAft>
              <a:buClr>
                <a:srgbClr val="FFFFFF"/>
              </a:buClr>
              <a:buSzPts val="2000"/>
              <a:buFont typeface="Arial"/>
              <a:buChar char="•"/>
            </a:pPr>
            <a:r>
              <a:rPr b="1" i="0" lang="en-US" sz="2000" u="none" cap="none" strike="noStrike">
                <a:solidFill>
                  <a:srgbClr val="FFFFFF"/>
                </a:solidFill>
                <a:latin typeface="Montserrat"/>
                <a:ea typeface="Montserrat"/>
                <a:cs typeface="Montserrat"/>
                <a:sym typeface="Montserrat"/>
              </a:rPr>
              <a:t>Integrante de backend</a:t>
            </a:r>
            <a:endParaRPr/>
          </a:p>
          <a:p>
            <a:pPr indent="-215900" lvl="1" marL="431801" marR="0" rtl="0" algn="just">
              <a:lnSpc>
                <a:spcPct val="120000"/>
              </a:lnSpc>
              <a:spcBef>
                <a:spcPts val="0"/>
              </a:spcBef>
              <a:spcAft>
                <a:spcPts val="0"/>
              </a:spcAft>
              <a:buClr>
                <a:srgbClr val="FFFFFF"/>
              </a:buClr>
              <a:buSzPts val="2000"/>
              <a:buFont typeface="Arial"/>
              <a:buChar char="•"/>
            </a:pPr>
            <a:r>
              <a:rPr b="1" i="0" lang="en-US" sz="2000" u="none" cap="none" strike="noStrike">
                <a:solidFill>
                  <a:srgbClr val="FFFFFF"/>
                </a:solidFill>
                <a:latin typeface="Montserrat"/>
                <a:ea typeface="Montserrat"/>
                <a:cs typeface="Montserrat"/>
                <a:sym typeface="Montserrat"/>
              </a:rPr>
              <a:t>Afinación de agentes inteligentes, creación y vinculación de endpoints con el frontend.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121" name="Shape 121"/>
        <p:cNvGrpSpPr/>
        <p:nvPr/>
      </p:nvGrpSpPr>
      <p:grpSpPr>
        <a:xfrm>
          <a:off x="0" y="0"/>
          <a:ext cx="0" cy="0"/>
          <a:chOff x="0" y="0"/>
          <a:chExt cx="0" cy="0"/>
        </a:xfrm>
      </p:grpSpPr>
      <p:cxnSp>
        <p:nvCxnSpPr>
          <p:cNvPr id="122" name="Google Shape;122;p3"/>
          <p:cNvCxnSpPr/>
          <p:nvPr/>
        </p:nvCxnSpPr>
        <p:spPr>
          <a:xfrm>
            <a:off x="1157612" y="2393767"/>
            <a:ext cx="7211120" cy="0"/>
          </a:xfrm>
          <a:prstGeom prst="straightConnector1">
            <a:avLst/>
          </a:prstGeom>
          <a:noFill/>
          <a:ln cap="flat" cmpd="sng" w="19050">
            <a:solidFill>
              <a:srgbClr val="307FE2"/>
            </a:solidFill>
            <a:prstDash val="solid"/>
            <a:round/>
            <a:headEnd len="sm" w="sm" type="none"/>
            <a:tailEnd len="sm" w="sm" type="none"/>
          </a:ln>
        </p:spPr>
      </p:cxnSp>
      <p:sp>
        <p:nvSpPr>
          <p:cNvPr id="123" name="Google Shape;123;p3"/>
          <p:cNvSpPr/>
          <p:nvPr/>
        </p:nvSpPr>
        <p:spPr>
          <a:xfrm>
            <a:off x="10065538" y="2393767"/>
            <a:ext cx="5778062" cy="5778062"/>
          </a:xfrm>
          <a:custGeom>
            <a:rect b="b" l="l" r="r" t="t"/>
            <a:pathLst>
              <a:path extrusionOk="0" h="5778062" w="5778062">
                <a:moveTo>
                  <a:pt x="0" y="0"/>
                </a:moveTo>
                <a:lnTo>
                  <a:pt x="5778062" y="0"/>
                </a:lnTo>
                <a:lnTo>
                  <a:pt x="5778062" y="5778062"/>
                </a:lnTo>
                <a:lnTo>
                  <a:pt x="0" y="5778062"/>
                </a:lnTo>
                <a:lnTo>
                  <a:pt x="0" y="0"/>
                </a:lnTo>
                <a:close/>
              </a:path>
            </a:pathLst>
          </a:custGeom>
          <a:blipFill rotWithShape="1">
            <a:blip r:embed="rId3">
              <a:alphaModFix/>
            </a:blip>
            <a:stretch>
              <a:fillRect b="0" l="0" r="0" t="0"/>
            </a:stretch>
          </a:blipFill>
          <a:ln>
            <a:noFill/>
          </a:ln>
        </p:spPr>
      </p:sp>
      <p:sp>
        <p:nvSpPr>
          <p:cNvPr id="124" name="Google Shape;124;p3"/>
          <p:cNvSpPr txBox="1"/>
          <p:nvPr/>
        </p:nvSpPr>
        <p:spPr>
          <a:xfrm>
            <a:off x="1157460" y="1076325"/>
            <a:ext cx="7211120" cy="10140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Contexto</a:t>
            </a:r>
            <a:endParaRPr/>
          </a:p>
        </p:txBody>
      </p:sp>
      <p:sp>
        <p:nvSpPr>
          <p:cNvPr id="125" name="Google Shape;125;p3"/>
          <p:cNvSpPr txBox="1"/>
          <p:nvPr/>
        </p:nvSpPr>
        <p:spPr>
          <a:xfrm>
            <a:off x="1157612" y="2997599"/>
            <a:ext cx="8811362" cy="1219200"/>
          </a:xfrm>
          <a:prstGeom prst="rect">
            <a:avLst/>
          </a:prstGeom>
          <a:noFill/>
          <a:ln>
            <a:noFill/>
          </a:ln>
        </p:spPr>
        <p:txBody>
          <a:bodyPr anchorCtr="0" anchor="t" bIns="0" lIns="0" spcFirstLastPara="1" rIns="0" wrap="square" tIns="0">
            <a:spAutoFit/>
          </a:bodyPr>
          <a:lstStyle/>
          <a:p>
            <a:pPr indent="0" lvl="0" marL="0" marR="0" rtl="0" algn="just">
              <a:lnSpc>
                <a:spcPct val="120000"/>
              </a:lnSpc>
              <a:spcBef>
                <a:spcPts val="0"/>
              </a:spcBef>
              <a:spcAft>
                <a:spcPts val="0"/>
              </a:spcAft>
              <a:buNone/>
            </a:pPr>
            <a:r>
              <a:rPr b="0" i="0" lang="en-US" sz="2000" u="none" cap="none" strike="noStrike">
                <a:solidFill>
                  <a:srgbClr val="307FE2"/>
                </a:solidFill>
                <a:latin typeface="Montserrat"/>
                <a:ea typeface="Montserrat"/>
                <a:cs typeface="Montserrat"/>
                <a:sym typeface="Montserrat"/>
              </a:rPr>
              <a:t>Actualmente, Duoc UC no cuenta con un sistema especializado para apoyar la corrección de evaluaciones. El proceso depende totalmente del trabajo manual del docente, lo que hace que la revisión sea lenta, pesada y difícil de estandarizar.</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129" name="Shape 129"/>
        <p:cNvGrpSpPr/>
        <p:nvPr/>
      </p:nvGrpSpPr>
      <p:grpSpPr>
        <a:xfrm>
          <a:off x="0" y="0"/>
          <a:ext cx="0" cy="0"/>
          <a:chOff x="0" y="0"/>
          <a:chExt cx="0" cy="0"/>
        </a:xfrm>
      </p:grpSpPr>
      <p:sp>
        <p:nvSpPr>
          <p:cNvPr id="130" name="Google Shape;130;p4"/>
          <p:cNvSpPr/>
          <p:nvPr/>
        </p:nvSpPr>
        <p:spPr>
          <a:xfrm>
            <a:off x="10439400" y="0"/>
            <a:ext cx="7858125" cy="10287000"/>
          </a:xfrm>
          <a:custGeom>
            <a:rect b="b" l="l" r="r" t="t"/>
            <a:pathLst>
              <a:path extrusionOk="0" h="1593725" w="1217429">
                <a:moveTo>
                  <a:pt x="0" y="0"/>
                </a:moveTo>
                <a:lnTo>
                  <a:pt x="1217429" y="0"/>
                </a:lnTo>
                <a:lnTo>
                  <a:pt x="1217429" y="1593725"/>
                </a:lnTo>
                <a:lnTo>
                  <a:pt x="0" y="1593725"/>
                </a:lnTo>
                <a:close/>
              </a:path>
            </a:pathLst>
          </a:custGeom>
          <a:blipFill rotWithShape="1">
            <a:blip r:embed="rId3">
              <a:alphaModFix/>
            </a:blip>
            <a:stretch>
              <a:fillRect b="-253" l="0" r="0" t="-253"/>
            </a:stretch>
          </a:blipFill>
          <a:ln>
            <a:noFill/>
          </a:ln>
        </p:spPr>
      </p:sp>
      <p:sp>
        <p:nvSpPr>
          <p:cNvPr id="131" name="Google Shape;131;p4"/>
          <p:cNvSpPr txBox="1"/>
          <p:nvPr/>
        </p:nvSpPr>
        <p:spPr>
          <a:xfrm>
            <a:off x="1028700" y="1076325"/>
            <a:ext cx="7211120" cy="10140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 Problematica</a:t>
            </a:r>
            <a:endParaRPr/>
          </a:p>
        </p:txBody>
      </p:sp>
      <p:cxnSp>
        <p:nvCxnSpPr>
          <p:cNvPr id="132" name="Google Shape;132;p4"/>
          <p:cNvCxnSpPr/>
          <p:nvPr/>
        </p:nvCxnSpPr>
        <p:spPr>
          <a:xfrm>
            <a:off x="1157612" y="2393767"/>
            <a:ext cx="7211120" cy="0"/>
          </a:xfrm>
          <a:prstGeom prst="straightConnector1">
            <a:avLst/>
          </a:prstGeom>
          <a:noFill/>
          <a:ln cap="flat" cmpd="sng" w="19050">
            <a:solidFill>
              <a:srgbClr val="307FE2"/>
            </a:solidFill>
            <a:prstDash val="solid"/>
            <a:round/>
            <a:headEnd len="sm" w="sm" type="none"/>
            <a:tailEnd len="sm" w="sm" type="none"/>
          </a:ln>
        </p:spPr>
      </p:cxnSp>
      <p:sp>
        <p:nvSpPr>
          <p:cNvPr id="133" name="Google Shape;133;p4"/>
          <p:cNvSpPr txBox="1"/>
          <p:nvPr/>
        </p:nvSpPr>
        <p:spPr>
          <a:xfrm>
            <a:off x="1157612" y="2997599"/>
            <a:ext cx="8811362" cy="3352800"/>
          </a:xfrm>
          <a:prstGeom prst="rect">
            <a:avLst/>
          </a:prstGeom>
          <a:noFill/>
          <a:ln>
            <a:noFill/>
          </a:ln>
        </p:spPr>
        <p:txBody>
          <a:bodyPr anchorCtr="0" anchor="t" bIns="0" lIns="0" spcFirstLastPara="1" rIns="0" wrap="square" tIns="0">
            <a:spAutoFit/>
          </a:bodyPr>
          <a:lstStyle/>
          <a:p>
            <a:pPr indent="0" lvl="0" marL="0" marR="0" rtl="0" algn="just">
              <a:lnSpc>
                <a:spcPct val="120000"/>
              </a:lnSpc>
              <a:spcBef>
                <a:spcPts val="0"/>
              </a:spcBef>
              <a:spcAft>
                <a:spcPts val="0"/>
              </a:spcAft>
              <a:buNone/>
            </a:pPr>
            <a:r>
              <a:rPr b="0" i="0" lang="en-US" sz="2000" u="none" cap="none" strike="noStrike">
                <a:solidFill>
                  <a:srgbClr val="307FE2"/>
                </a:solidFill>
                <a:latin typeface="Montserrat"/>
                <a:ea typeface="Montserrat"/>
                <a:cs typeface="Montserrat"/>
                <a:sym typeface="Montserrat"/>
              </a:rPr>
              <a:t>El sistema manual de corrección genera varios inconvenientes:</a:t>
            </a:r>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Sobrecarga e ineficiencia: Los docentes deben revisar grandes volúmenes de evaluaciones, consumiendo tiempo que deberían dedicar a actividades pedagógicas.</a:t>
            </a:r>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Inconsistencias y sesgos por cansancio: La evaluación puede variar entre docentes o incluso en un mismo docente, especialmente cuando el cansancio afecta el criterio aplicado.</a:t>
            </a:r>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Retroalimentación tardía y poca escalabilidad: El aumento de estudiantes hace que el modelo manual no alcance a cubrir la demanda, retrasando notas y comentarios formativos.</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137" name="Shape 137"/>
        <p:cNvGrpSpPr/>
        <p:nvPr/>
      </p:nvGrpSpPr>
      <p:grpSpPr>
        <a:xfrm>
          <a:off x="0" y="0"/>
          <a:ext cx="0" cy="0"/>
          <a:chOff x="0" y="0"/>
          <a:chExt cx="0" cy="0"/>
        </a:xfrm>
      </p:grpSpPr>
      <p:cxnSp>
        <p:nvCxnSpPr>
          <p:cNvPr id="138" name="Google Shape;138;p5"/>
          <p:cNvCxnSpPr/>
          <p:nvPr/>
        </p:nvCxnSpPr>
        <p:spPr>
          <a:xfrm>
            <a:off x="1157612" y="2393767"/>
            <a:ext cx="7211120" cy="0"/>
          </a:xfrm>
          <a:prstGeom prst="straightConnector1">
            <a:avLst/>
          </a:prstGeom>
          <a:noFill/>
          <a:ln cap="flat" cmpd="sng" w="19050">
            <a:solidFill>
              <a:srgbClr val="307FE2"/>
            </a:solidFill>
            <a:prstDash val="solid"/>
            <a:round/>
            <a:headEnd len="sm" w="sm" type="none"/>
            <a:tailEnd len="sm" w="sm" type="none"/>
          </a:ln>
        </p:spPr>
      </p:cxnSp>
      <p:sp>
        <p:nvSpPr>
          <p:cNvPr id="139" name="Google Shape;139;p5"/>
          <p:cNvSpPr/>
          <p:nvPr/>
        </p:nvSpPr>
        <p:spPr>
          <a:xfrm>
            <a:off x="10607753" y="2857500"/>
            <a:ext cx="5778062" cy="5778062"/>
          </a:xfrm>
          <a:custGeom>
            <a:rect b="b" l="l" r="r" t="t"/>
            <a:pathLst>
              <a:path extrusionOk="0" h="5778062" w="5778062">
                <a:moveTo>
                  <a:pt x="0" y="0"/>
                </a:moveTo>
                <a:lnTo>
                  <a:pt x="5778062" y="0"/>
                </a:lnTo>
                <a:lnTo>
                  <a:pt x="5778062" y="5778062"/>
                </a:lnTo>
                <a:lnTo>
                  <a:pt x="0" y="5778062"/>
                </a:lnTo>
                <a:lnTo>
                  <a:pt x="0" y="0"/>
                </a:lnTo>
                <a:close/>
              </a:path>
            </a:pathLst>
          </a:custGeom>
          <a:blipFill rotWithShape="1">
            <a:blip r:embed="rId3">
              <a:alphaModFix/>
            </a:blip>
            <a:stretch>
              <a:fillRect b="0" l="0" r="0" t="0"/>
            </a:stretch>
          </a:blipFill>
          <a:ln>
            <a:noFill/>
          </a:ln>
        </p:spPr>
      </p:sp>
      <p:sp>
        <p:nvSpPr>
          <p:cNvPr id="140" name="Google Shape;140;p5"/>
          <p:cNvSpPr txBox="1"/>
          <p:nvPr/>
        </p:nvSpPr>
        <p:spPr>
          <a:xfrm>
            <a:off x="1181100" y="1228725"/>
            <a:ext cx="7211120" cy="10140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Solución</a:t>
            </a:r>
            <a:endParaRPr/>
          </a:p>
        </p:txBody>
      </p:sp>
      <p:sp>
        <p:nvSpPr>
          <p:cNvPr id="141" name="Google Shape;141;p5"/>
          <p:cNvSpPr txBox="1"/>
          <p:nvPr/>
        </p:nvSpPr>
        <p:spPr>
          <a:xfrm>
            <a:off x="1157612" y="2997599"/>
            <a:ext cx="8811362" cy="3657600"/>
          </a:xfrm>
          <a:prstGeom prst="rect">
            <a:avLst/>
          </a:prstGeom>
          <a:noFill/>
          <a:ln>
            <a:noFill/>
          </a:ln>
        </p:spPr>
        <p:txBody>
          <a:bodyPr anchorCtr="0" anchor="t" bIns="0" lIns="0" spcFirstLastPara="1" rIns="0" wrap="square" tIns="0">
            <a:spAutoFit/>
          </a:bodyPr>
          <a:lstStyle/>
          <a:p>
            <a:pPr indent="0" lvl="0" marL="0" marR="0" rtl="0" algn="just">
              <a:lnSpc>
                <a:spcPct val="120000"/>
              </a:lnSpc>
              <a:spcBef>
                <a:spcPts val="0"/>
              </a:spcBef>
              <a:spcAft>
                <a:spcPts val="0"/>
              </a:spcAft>
              <a:buNone/>
            </a:pPr>
            <a:r>
              <a:rPr b="0" i="0" lang="en-US" sz="2000" u="none" cap="none" strike="noStrike">
                <a:solidFill>
                  <a:srgbClr val="307FE2"/>
                </a:solidFill>
                <a:latin typeface="Montserrat"/>
                <a:ea typeface="Montserrat"/>
                <a:cs typeface="Montserrat"/>
                <a:sym typeface="Montserrat"/>
              </a:rPr>
              <a:t>Desarrollar Krino Insight, una plataforma web que integra inteligencia artificial para automatizar y optimizar el proceso de corrección académica. El sistema permite cargar evaluaciones y rúbricas, aplicar automáticamente los criterios definidos mediante un agente de IA, y generar puntajes preliminares junto con retroalimentación detallada.</a:t>
            </a:r>
            <a:endParaRPr/>
          </a:p>
          <a:p>
            <a:pPr indent="0" lvl="0" marL="0" marR="0" rtl="0" algn="just">
              <a:lnSpc>
                <a:spcPct val="120000"/>
              </a:lnSpc>
              <a:spcBef>
                <a:spcPts val="0"/>
              </a:spcBef>
              <a:spcAft>
                <a:spcPts val="0"/>
              </a:spcAft>
              <a:buNone/>
            </a:pPr>
            <a:r>
              <a:rPr b="0" i="0" lang="en-US" sz="2000" u="none" cap="none" strike="noStrike">
                <a:solidFill>
                  <a:srgbClr val="307FE2"/>
                </a:solidFill>
                <a:latin typeface="Montserrat"/>
                <a:ea typeface="Montserrat"/>
                <a:cs typeface="Montserrat"/>
                <a:sym typeface="Montserrat"/>
              </a:rPr>
              <a:t>El docente mantiene control total sobre la evaluación, pudiendo revisar, ajustar y validar cada resultado antes de publicarlo. Esta solución reduce la carga operativa, disminuye inconsistencias y sesgos por cansancio, y acelera la entrega de retroalimentación formativa a los estudiantes.</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145" name="Shape 145"/>
        <p:cNvGrpSpPr/>
        <p:nvPr/>
      </p:nvGrpSpPr>
      <p:grpSpPr>
        <a:xfrm>
          <a:off x="0" y="0"/>
          <a:ext cx="0" cy="0"/>
          <a:chOff x="0" y="0"/>
          <a:chExt cx="0" cy="0"/>
        </a:xfrm>
      </p:grpSpPr>
      <p:cxnSp>
        <p:nvCxnSpPr>
          <p:cNvPr id="146" name="Google Shape;146;p6"/>
          <p:cNvCxnSpPr/>
          <p:nvPr/>
        </p:nvCxnSpPr>
        <p:spPr>
          <a:xfrm>
            <a:off x="1157612" y="2393767"/>
            <a:ext cx="7211120" cy="0"/>
          </a:xfrm>
          <a:prstGeom prst="straightConnector1">
            <a:avLst/>
          </a:prstGeom>
          <a:noFill/>
          <a:ln cap="flat" cmpd="sng" w="19050">
            <a:solidFill>
              <a:srgbClr val="307FE2"/>
            </a:solidFill>
            <a:prstDash val="solid"/>
            <a:round/>
            <a:headEnd len="sm" w="sm" type="none"/>
            <a:tailEnd len="sm" w="sm" type="none"/>
          </a:ln>
        </p:spPr>
      </p:cxnSp>
      <p:sp>
        <p:nvSpPr>
          <p:cNvPr id="147" name="Google Shape;147;p6"/>
          <p:cNvSpPr/>
          <p:nvPr/>
        </p:nvSpPr>
        <p:spPr>
          <a:xfrm>
            <a:off x="10667999" y="2242822"/>
            <a:ext cx="5778062" cy="5778062"/>
          </a:xfrm>
          <a:custGeom>
            <a:rect b="b" l="l" r="r" t="t"/>
            <a:pathLst>
              <a:path extrusionOk="0" h="5778062" w="5778062">
                <a:moveTo>
                  <a:pt x="0" y="0"/>
                </a:moveTo>
                <a:lnTo>
                  <a:pt x="5778062" y="0"/>
                </a:lnTo>
                <a:lnTo>
                  <a:pt x="5778062" y="5778062"/>
                </a:lnTo>
                <a:lnTo>
                  <a:pt x="0" y="5778062"/>
                </a:lnTo>
                <a:lnTo>
                  <a:pt x="0" y="0"/>
                </a:lnTo>
                <a:close/>
              </a:path>
            </a:pathLst>
          </a:custGeom>
          <a:blipFill rotWithShape="1">
            <a:blip r:embed="rId3">
              <a:alphaModFix/>
            </a:blip>
            <a:stretch>
              <a:fillRect b="0" l="0" r="0" t="0"/>
            </a:stretch>
          </a:blipFill>
          <a:ln>
            <a:noFill/>
          </a:ln>
        </p:spPr>
      </p:sp>
      <p:sp>
        <p:nvSpPr>
          <p:cNvPr id="148" name="Google Shape;148;p6"/>
          <p:cNvSpPr txBox="1"/>
          <p:nvPr/>
        </p:nvSpPr>
        <p:spPr>
          <a:xfrm>
            <a:off x="1181100" y="1228725"/>
            <a:ext cx="8596781" cy="10140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Objetivo general</a:t>
            </a:r>
            <a:endParaRPr/>
          </a:p>
        </p:txBody>
      </p:sp>
      <p:sp>
        <p:nvSpPr>
          <p:cNvPr id="149" name="Google Shape;149;p6"/>
          <p:cNvSpPr txBox="1"/>
          <p:nvPr/>
        </p:nvSpPr>
        <p:spPr>
          <a:xfrm>
            <a:off x="1157612" y="2997599"/>
            <a:ext cx="8811362" cy="2133600"/>
          </a:xfrm>
          <a:prstGeom prst="rect">
            <a:avLst/>
          </a:prstGeom>
          <a:noFill/>
          <a:ln>
            <a:noFill/>
          </a:ln>
        </p:spPr>
        <p:txBody>
          <a:bodyPr anchorCtr="0" anchor="t" bIns="0" lIns="0" spcFirstLastPara="1" rIns="0" wrap="square" tIns="0">
            <a:spAutoFit/>
          </a:bodyPr>
          <a:lstStyle/>
          <a:p>
            <a:pPr indent="0" lvl="0" marL="0" marR="0" rtl="0" algn="just">
              <a:lnSpc>
                <a:spcPct val="120000"/>
              </a:lnSpc>
              <a:spcBef>
                <a:spcPts val="0"/>
              </a:spcBef>
              <a:spcAft>
                <a:spcPts val="0"/>
              </a:spcAft>
              <a:buNone/>
            </a:pPr>
            <a:r>
              <a:rPr b="0" i="0" lang="en-US" sz="2000" u="none" cap="none" strike="noStrike">
                <a:solidFill>
                  <a:srgbClr val="307FE2"/>
                </a:solidFill>
                <a:latin typeface="Montserrat"/>
                <a:ea typeface="Montserrat"/>
                <a:cs typeface="Montserrat"/>
                <a:sym typeface="Montserrat"/>
              </a:rPr>
              <a:t>Desarrollar una plataforma web denominada Krino Insight que permita la gestión y corrección automatizada de evaluaciones en Duoc UC, integrando inteligencia artificial para asistir en la asignación preliminar de puntajes y la generación de retroalimentación, asegurando un proceso más eficiente, consistente y escalable para los docentes, en línea con los criterios definidos en rúbricas académicas.</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153" name="Shape 153"/>
        <p:cNvGrpSpPr/>
        <p:nvPr/>
      </p:nvGrpSpPr>
      <p:grpSpPr>
        <a:xfrm>
          <a:off x="0" y="0"/>
          <a:ext cx="0" cy="0"/>
          <a:chOff x="0" y="0"/>
          <a:chExt cx="0" cy="0"/>
        </a:xfrm>
      </p:grpSpPr>
      <p:sp>
        <p:nvSpPr>
          <p:cNvPr id="154" name="Google Shape;154;p7"/>
          <p:cNvSpPr/>
          <p:nvPr/>
        </p:nvSpPr>
        <p:spPr>
          <a:xfrm>
            <a:off x="11481238" y="2393767"/>
            <a:ext cx="5778062" cy="5778062"/>
          </a:xfrm>
          <a:custGeom>
            <a:rect b="b" l="l" r="r" t="t"/>
            <a:pathLst>
              <a:path extrusionOk="0" h="5778062" w="5778062">
                <a:moveTo>
                  <a:pt x="0" y="0"/>
                </a:moveTo>
                <a:lnTo>
                  <a:pt x="5778062" y="0"/>
                </a:lnTo>
                <a:lnTo>
                  <a:pt x="5778062" y="5778062"/>
                </a:lnTo>
                <a:lnTo>
                  <a:pt x="0" y="5778062"/>
                </a:lnTo>
                <a:lnTo>
                  <a:pt x="0" y="0"/>
                </a:lnTo>
                <a:close/>
              </a:path>
            </a:pathLst>
          </a:custGeom>
          <a:blipFill rotWithShape="1">
            <a:blip r:embed="rId3">
              <a:alphaModFix/>
            </a:blip>
            <a:stretch>
              <a:fillRect b="0" l="0" r="0" t="0"/>
            </a:stretch>
          </a:blipFill>
          <a:ln>
            <a:noFill/>
          </a:ln>
        </p:spPr>
      </p:sp>
      <p:sp>
        <p:nvSpPr>
          <p:cNvPr id="155" name="Google Shape;155;p7"/>
          <p:cNvSpPr txBox="1"/>
          <p:nvPr/>
        </p:nvSpPr>
        <p:spPr>
          <a:xfrm>
            <a:off x="1181100" y="1228725"/>
            <a:ext cx="9997504" cy="10140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Objetivos específicos</a:t>
            </a:r>
            <a:endParaRPr/>
          </a:p>
        </p:txBody>
      </p:sp>
      <p:cxnSp>
        <p:nvCxnSpPr>
          <p:cNvPr id="156" name="Google Shape;156;p7"/>
          <p:cNvCxnSpPr/>
          <p:nvPr/>
        </p:nvCxnSpPr>
        <p:spPr>
          <a:xfrm>
            <a:off x="1157612" y="2393767"/>
            <a:ext cx="7211120" cy="0"/>
          </a:xfrm>
          <a:prstGeom prst="straightConnector1">
            <a:avLst/>
          </a:prstGeom>
          <a:noFill/>
          <a:ln cap="flat" cmpd="sng" w="19050">
            <a:solidFill>
              <a:srgbClr val="307FE2"/>
            </a:solidFill>
            <a:prstDash val="solid"/>
            <a:round/>
            <a:headEnd len="sm" w="sm" type="none"/>
            <a:tailEnd len="sm" w="sm" type="none"/>
          </a:ln>
        </p:spPr>
      </p:cxnSp>
      <p:sp>
        <p:nvSpPr>
          <p:cNvPr id="157" name="Google Shape;157;p7"/>
          <p:cNvSpPr txBox="1"/>
          <p:nvPr/>
        </p:nvSpPr>
        <p:spPr>
          <a:xfrm>
            <a:off x="1157612" y="2997599"/>
            <a:ext cx="8811362" cy="4572000"/>
          </a:xfrm>
          <a:prstGeom prst="rect">
            <a:avLst/>
          </a:prstGeom>
          <a:noFill/>
          <a:ln>
            <a:noFill/>
          </a:ln>
        </p:spPr>
        <p:txBody>
          <a:bodyPr anchorCtr="0" anchor="t" bIns="0" lIns="0" spcFirstLastPara="1" rIns="0" wrap="square" tIns="0">
            <a:spAutoFit/>
          </a:bodyPr>
          <a:lstStyle/>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Implementar una base web segura y escalable para gestionar usuarios y roles.</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Integrar la API de Chat GPT para sugerir puntajes y feedback basados en rúbricas.</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Desarrollar un módulo administrativo para crear evaluaciones, inscribir secciones y cargar rúbricas.</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Crear un panel docente para revisar, editar y validar las correcciones propuestas por la IA.</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Garantizar un diseño accesible, optimizado y centrado en el usuario (UX).</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161" name="Shape 161"/>
        <p:cNvGrpSpPr/>
        <p:nvPr/>
      </p:nvGrpSpPr>
      <p:grpSpPr>
        <a:xfrm>
          <a:off x="0" y="0"/>
          <a:ext cx="0" cy="0"/>
          <a:chOff x="0" y="0"/>
          <a:chExt cx="0" cy="0"/>
        </a:xfrm>
      </p:grpSpPr>
      <p:sp>
        <p:nvSpPr>
          <p:cNvPr id="162" name="Google Shape;162;p8"/>
          <p:cNvSpPr/>
          <p:nvPr/>
        </p:nvSpPr>
        <p:spPr>
          <a:xfrm>
            <a:off x="11321028" y="2125633"/>
            <a:ext cx="5778062" cy="5778062"/>
          </a:xfrm>
          <a:custGeom>
            <a:rect b="b" l="l" r="r" t="t"/>
            <a:pathLst>
              <a:path extrusionOk="0" h="5778062" w="5778062">
                <a:moveTo>
                  <a:pt x="0" y="0"/>
                </a:moveTo>
                <a:lnTo>
                  <a:pt x="5778063" y="0"/>
                </a:lnTo>
                <a:lnTo>
                  <a:pt x="5778063" y="5778063"/>
                </a:lnTo>
                <a:lnTo>
                  <a:pt x="0" y="5778063"/>
                </a:lnTo>
                <a:lnTo>
                  <a:pt x="0" y="0"/>
                </a:lnTo>
                <a:close/>
              </a:path>
            </a:pathLst>
          </a:custGeom>
          <a:blipFill rotWithShape="1">
            <a:blip r:embed="rId3">
              <a:alphaModFix/>
            </a:blip>
            <a:stretch>
              <a:fillRect b="0" l="0" r="0" t="0"/>
            </a:stretch>
          </a:blipFill>
          <a:ln>
            <a:noFill/>
          </a:ln>
        </p:spPr>
      </p:sp>
      <p:sp>
        <p:nvSpPr>
          <p:cNvPr id="163" name="Google Shape;163;p8"/>
          <p:cNvSpPr txBox="1"/>
          <p:nvPr/>
        </p:nvSpPr>
        <p:spPr>
          <a:xfrm>
            <a:off x="1157612" y="2997599"/>
            <a:ext cx="8811362" cy="5791200"/>
          </a:xfrm>
          <a:prstGeom prst="rect">
            <a:avLst/>
          </a:prstGeom>
          <a:noFill/>
          <a:ln>
            <a:noFill/>
          </a:ln>
        </p:spPr>
        <p:txBody>
          <a:bodyPr anchorCtr="0" anchor="t" bIns="0" lIns="0" spcFirstLastPara="1" rIns="0" wrap="square" tIns="0">
            <a:spAutoFit/>
          </a:bodyPr>
          <a:lstStyle/>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Se cumplió el objetivo de implementar la corrección asistida por IA (API de OpenAI). El sistema está operativo para esta tarea.</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El sistema fue validado y logra evaluar correctamente las asignaturas de "Desarrollo Orientado a Objetos" y "Fundamentos de Programación".</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Los docentes pueden ver sus secciones, la lista de estudiantes, las evaluaciones y las notas obtenidas correspondientes.</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El agente inteligente evalúa mucho mejor que al inicio, mostrando una mayor diversidad en las notas entregadas. Esto se logró adaptando las rúbricas (con más puntaje) y dando más "libertad" al modelo.</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El docente mantiene el control total, pudiendo revisar, ajustar puntajes y complementar la retroalimentación generada por la IA.</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p:txBody>
      </p:sp>
      <p:sp>
        <p:nvSpPr>
          <p:cNvPr id="164" name="Google Shape;164;p8"/>
          <p:cNvSpPr txBox="1"/>
          <p:nvPr/>
        </p:nvSpPr>
        <p:spPr>
          <a:xfrm>
            <a:off x="1181100" y="1228725"/>
            <a:ext cx="9997504" cy="10140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Alcance</a:t>
            </a:r>
            <a:endParaRPr/>
          </a:p>
        </p:txBody>
      </p:sp>
      <p:cxnSp>
        <p:nvCxnSpPr>
          <p:cNvPr id="165" name="Google Shape;165;p8"/>
          <p:cNvCxnSpPr/>
          <p:nvPr/>
        </p:nvCxnSpPr>
        <p:spPr>
          <a:xfrm>
            <a:off x="1157612" y="2393767"/>
            <a:ext cx="7211120" cy="0"/>
          </a:xfrm>
          <a:prstGeom prst="straightConnector1">
            <a:avLst/>
          </a:prstGeom>
          <a:noFill/>
          <a:ln cap="flat" cmpd="sng" w="19050">
            <a:solidFill>
              <a:srgbClr val="307FE2"/>
            </a:solidFill>
            <a:prstDash val="solid"/>
            <a:round/>
            <a:headEnd len="sm" w="sm" type="none"/>
            <a:tailEnd len="sm" w="sm" type="none"/>
          </a:ln>
        </p:spPr>
      </p:cxn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169" name="Shape 169"/>
        <p:cNvGrpSpPr/>
        <p:nvPr/>
      </p:nvGrpSpPr>
      <p:grpSpPr>
        <a:xfrm>
          <a:off x="0" y="0"/>
          <a:ext cx="0" cy="0"/>
          <a:chOff x="0" y="0"/>
          <a:chExt cx="0" cy="0"/>
        </a:xfrm>
      </p:grpSpPr>
      <p:sp>
        <p:nvSpPr>
          <p:cNvPr id="170" name="Google Shape;170;p9"/>
          <p:cNvSpPr/>
          <p:nvPr/>
        </p:nvSpPr>
        <p:spPr>
          <a:xfrm>
            <a:off x="11244499" y="3118873"/>
            <a:ext cx="4034070" cy="4049255"/>
          </a:xfrm>
          <a:custGeom>
            <a:rect b="b" l="l" r="r" t="t"/>
            <a:pathLst>
              <a:path extrusionOk="0" h="4049255" w="4034070">
                <a:moveTo>
                  <a:pt x="0" y="0"/>
                </a:moveTo>
                <a:lnTo>
                  <a:pt x="4034071" y="0"/>
                </a:lnTo>
                <a:lnTo>
                  <a:pt x="4034071" y="4049254"/>
                </a:lnTo>
                <a:lnTo>
                  <a:pt x="0" y="4049254"/>
                </a:lnTo>
                <a:lnTo>
                  <a:pt x="0" y="0"/>
                </a:lnTo>
                <a:close/>
              </a:path>
            </a:pathLst>
          </a:custGeom>
          <a:blipFill rotWithShape="1">
            <a:blip r:embed="rId3">
              <a:alphaModFix/>
            </a:blip>
            <a:stretch>
              <a:fillRect b="0" l="0" r="0" t="0"/>
            </a:stretch>
          </a:blipFill>
          <a:ln>
            <a:noFill/>
          </a:ln>
        </p:spPr>
      </p:sp>
      <p:sp>
        <p:nvSpPr>
          <p:cNvPr id="171" name="Google Shape;171;p9"/>
          <p:cNvSpPr txBox="1"/>
          <p:nvPr/>
        </p:nvSpPr>
        <p:spPr>
          <a:xfrm>
            <a:off x="1181100" y="1228725"/>
            <a:ext cx="8596781" cy="10140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Limitación </a:t>
            </a:r>
            <a:endParaRPr/>
          </a:p>
        </p:txBody>
      </p:sp>
      <p:cxnSp>
        <p:nvCxnSpPr>
          <p:cNvPr id="172" name="Google Shape;172;p9"/>
          <p:cNvCxnSpPr/>
          <p:nvPr/>
        </p:nvCxnSpPr>
        <p:spPr>
          <a:xfrm>
            <a:off x="1157612" y="2393767"/>
            <a:ext cx="7211120" cy="0"/>
          </a:xfrm>
          <a:prstGeom prst="straightConnector1">
            <a:avLst/>
          </a:prstGeom>
          <a:noFill/>
          <a:ln cap="flat" cmpd="sng" w="19050">
            <a:solidFill>
              <a:srgbClr val="307FE2"/>
            </a:solidFill>
            <a:prstDash val="solid"/>
            <a:round/>
            <a:headEnd len="sm" w="sm" type="none"/>
            <a:tailEnd len="sm" w="sm" type="none"/>
          </a:ln>
        </p:spPr>
      </p:cxnSp>
      <p:sp>
        <p:nvSpPr>
          <p:cNvPr id="173" name="Google Shape;173;p9"/>
          <p:cNvSpPr txBox="1"/>
          <p:nvPr/>
        </p:nvSpPr>
        <p:spPr>
          <a:xfrm>
            <a:off x="1157612" y="2997599"/>
            <a:ext cx="8811362" cy="3352800"/>
          </a:xfrm>
          <a:prstGeom prst="rect">
            <a:avLst/>
          </a:prstGeom>
          <a:noFill/>
          <a:ln>
            <a:noFill/>
          </a:ln>
        </p:spPr>
        <p:txBody>
          <a:bodyPr anchorCtr="0" anchor="t" bIns="0" lIns="0" spcFirstLastPara="1" rIns="0" wrap="square" tIns="0">
            <a:spAutoFit/>
          </a:bodyPr>
          <a:lstStyle/>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Limitación con los créditos de la APIS_KEYS a la hora de evaluar, ya que el sistema depende de estas KEYS para evaluar y esta tienen un alcance limitado por lo que se puede acabar.</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El uso de OpenAI limita las herramientas que podemos usar para tener una mejor precisión y mejor retroalimentación de las evaluaciones.</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Limitación de uso del Microsoft Azure, ya que estamos destinados a solamente las herramientas que nos proporciona.</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177" name="Shape 177"/>
        <p:cNvGrpSpPr/>
        <p:nvPr/>
      </p:nvGrpSpPr>
      <p:grpSpPr>
        <a:xfrm>
          <a:off x="0" y="0"/>
          <a:ext cx="0" cy="0"/>
          <a:chOff x="0" y="0"/>
          <a:chExt cx="0" cy="0"/>
        </a:xfrm>
      </p:grpSpPr>
      <p:sp>
        <p:nvSpPr>
          <p:cNvPr id="178" name="Google Shape;178;p10"/>
          <p:cNvSpPr/>
          <p:nvPr/>
        </p:nvSpPr>
        <p:spPr>
          <a:xfrm>
            <a:off x="10429875" y="0"/>
            <a:ext cx="7858125" cy="10287000"/>
          </a:xfrm>
          <a:custGeom>
            <a:rect b="b" l="l" r="r" t="t"/>
            <a:pathLst>
              <a:path extrusionOk="0" h="1593725" w="1217429">
                <a:moveTo>
                  <a:pt x="0" y="0"/>
                </a:moveTo>
                <a:lnTo>
                  <a:pt x="1217429" y="0"/>
                </a:lnTo>
                <a:lnTo>
                  <a:pt x="1217429" y="1593725"/>
                </a:lnTo>
                <a:lnTo>
                  <a:pt x="0" y="1593725"/>
                </a:lnTo>
                <a:close/>
              </a:path>
            </a:pathLst>
          </a:custGeom>
          <a:blipFill rotWithShape="1">
            <a:blip r:embed="rId3">
              <a:alphaModFix/>
            </a:blip>
            <a:stretch>
              <a:fillRect b="-253" l="0" r="0" t="-253"/>
            </a:stretch>
          </a:blipFill>
          <a:ln>
            <a:noFill/>
          </a:ln>
        </p:spPr>
      </p:sp>
      <p:sp>
        <p:nvSpPr>
          <p:cNvPr id="179" name="Google Shape;179;p10"/>
          <p:cNvSpPr txBox="1"/>
          <p:nvPr/>
        </p:nvSpPr>
        <p:spPr>
          <a:xfrm>
            <a:off x="533013" y="1228725"/>
            <a:ext cx="9556841" cy="1014095"/>
          </a:xfrm>
          <a:prstGeom prst="rect">
            <a:avLst/>
          </a:prstGeom>
          <a:noFill/>
          <a:ln>
            <a:noFill/>
          </a:ln>
        </p:spPr>
        <p:txBody>
          <a:bodyPr anchorCtr="0" anchor="t" bIns="0" lIns="0" spcFirstLastPara="1" rIns="0" wrap="square" tIns="0">
            <a:spAutoFit/>
          </a:bodyPr>
          <a:lstStyle/>
          <a:p>
            <a:pPr indent="0" lvl="0" marL="0" marR="0" rtl="0" algn="l">
              <a:lnSpc>
                <a:spcPct val="4355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0" name="Google Shape;180;p10"/>
          <p:cNvSpPr txBox="1"/>
          <p:nvPr/>
        </p:nvSpPr>
        <p:spPr>
          <a:xfrm>
            <a:off x="1181100" y="1228725"/>
            <a:ext cx="8882587" cy="20046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Metodología Kanban</a:t>
            </a:r>
            <a:endParaRPr/>
          </a:p>
        </p:txBody>
      </p:sp>
      <p:sp>
        <p:nvSpPr>
          <p:cNvPr id="181" name="Google Shape;181;p10"/>
          <p:cNvSpPr txBox="1"/>
          <p:nvPr/>
        </p:nvSpPr>
        <p:spPr>
          <a:xfrm>
            <a:off x="1028700" y="3851561"/>
            <a:ext cx="8300027" cy="1828800"/>
          </a:xfrm>
          <a:prstGeom prst="rect">
            <a:avLst/>
          </a:prstGeom>
          <a:noFill/>
          <a:ln>
            <a:noFill/>
          </a:ln>
        </p:spPr>
        <p:txBody>
          <a:bodyPr anchorCtr="0" anchor="t" bIns="0" lIns="0" spcFirstLastPara="1" rIns="0" wrap="square" tIns="0">
            <a:spAutoFit/>
          </a:bodyPr>
          <a:lstStyle/>
          <a:p>
            <a:pPr indent="0" lvl="0" marL="0" marR="0" rtl="0" algn="just">
              <a:lnSpc>
                <a:spcPct val="120000"/>
              </a:lnSpc>
              <a:spcBef>
                <a:spcPts val="0"/>
              </a:spcBef>
              <a:spcAft>
                <a:spcPts val="0"/>
              </a:spcAft>
              <a:buNone/>
            </a:pPr>
            <a:r>
              <a:rPr b="0" i="0" lang="en-US" sz="2000" u="none" cap="none" strike="noStrike">
                <a:solidFill>
                  <a:srgbClr val="307FE2"/>
                </a:solidFill>
                <a:latin typeface="Montserrat"/>
                <a:ea typeface="Montserrat"/>
                <a:cs typeface="Montserrat"/>
                <a:sym typeface="Montserrat"/>
              </a:rPr>
              <a:t>La metodología Kanban permite un desarrollo ágil y efectivo al visualizar el flujo de trabajo, priorizar tareas y facilitar la colaboración. Esta estrategia mejora la adaptabilidad del equipo ante cambios y asegura la entrega continua de mejoras, promoviendo un ambiente de trabajo más organizado y eficiente.</a:t>
            </a:r>
            <a:endParaRPr/>
          </a:p>
        </p:txBody>
      </p:sp>
      <p:cxnSp>
        <p:nvCxnSpPr>
          <p:cNvPr id="182" name="Google Shape;182;p10"/>
          <p:cNvCxnSpPr/>
          <p:nvPr/>
        </p:nvCxnSpPr>
        <p:spPr>
          <a:xfrm>
            <a:off x="1181100" y="3620322"/>
            <a:ext cx="7211100" cy="0"/>
          </a:xfrm>
          <a:prstGeom prst="straightConnector1">
            <a:avLst/>
          </a:prstGeom>
          <a:noFill/>
          <a:ln cap="flat" cmpd="sng" w="19050">
            <a:solidFill>
              <a:srgbClr val="307FE2"/>
            </a:solidFill>
            <a:prstDash val="solid"/>
            <a:round/>
            <a:headEnd len="sm" w="sm" type="none"/>
            <a:tailEnd len="sm" w="sm" type="none"/>
          </a:ln>
        </p:spPr>
      </p:cxn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186" name="Shape 186"/>
        <p:cNvGrpSpPr/>
        <p:nvPr/>
      </p:nvGrpSpPr>
      <p:grpSpPr>
        <a:xfrm>
          <a:off x="0" y="0"/>
          <a:ext cx="0" cy="0"/>
          <a:chOff x="0" y="0"/>
          <a:chExt cx="0" cy="0"/>
        </a:xfrm>
      </p:grpSpPr>
      <p:sp>
        <p:nvSpPr>
          <p:cNvPr id="187" name="Google Shape;187;p11"/>
          <p:cNvSpPr txBox="1"/>
          <p:nvPr/>
        </p:nvSpPr>
        <p:spPr>
          <a:xfrm>
            <a:off x="1181100" y="1228725"/>
            <a:ext cx="8596781" cy="20046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Cronograma de desarrollo</a:t>
            </a:r>
            <a:endParaRPr/>
          </a:p>
        </p:txBody>
      </p:sp>
      <p:cxnSp>
        <p:nvCxnSpPr>
          <p:cNvPr id="188" name="Google Shape;188;p11"/>
          <p:cNvCxnSpPr/>
          <p:nvPr/>
        </p:nvCxnSpPr>
        <p:spPr>
          <a:xfrm>
            <a:off x="1181100" y="3611522"/>
            <a:ext cx="7211100" cy="0"/>
          </a:xfrm>
          <a:prstGeom prst="straightConnector1">
            <a:avLst/>
          </a:prstGeom>
          <a:noFill/>
          <a:ln cap="flat" cmpd="sng" w="19050">
            <a:solidFill>
              <a:srgbClr val="307FE2"/>
            </a:solidFill>
            <a:prstDash val="solid"/>
            <a:round/>
            <a:headEnd len="sm" w="sm" type="none"/>
            <a:tailEnd len="sm" w="sm" type="none"/>
          </a:ln>
        </p:spPr>
      </p:cxnSp>
      <p:graphicFrame>
        <p:nvGraphicFramePr>
          <p:cNvPr id="189" name="Google Shape;189;p11"/>
          <p:cNvGraphicFramePr/>
          <p:nvPr/>
        </p:nvGraphicFramePr>
        <p:xfrm>
          <a:off x="2028075" y="4358025"/>
          <a:ext cx="3000000" cy="3000000"/>
        </p:xfrm>
        <a:graphic>
          <a:graphicData uri="http://schemas.openxmlformats.org/drawingml/2006/table">
            <a:tbl>
              <a:tblPr bandRow="1">
                <a:noFill/>
                <a:tableStyleId>{DC084E46-ECF8-4E6A-96B3-51DBD29C3997}</a:tableStyleId>
              </a:tblPr>
              <a:tblGrid>
                <a:gridCol w="1751200"/>
                <a:gridCol w="694750"/>
                <a:gridCol w="676650"/>
                <a:gridCol w="677925"/>
                <a:gridCol w="681800"/>
                <a:gridCol w="677925"/>
                <a:gridCol w="677925"/>
                <a:gridCol w="677925"/>
                <a:gridCol w="677925"/>
                <a:gridCol w="677925"/>
                <a:gridCol w="677925"/>
                <a:gridCol w="677925"/>
                <a:gridCol w="677925"/>
                <a:gridCol w="680525"/>
                <a:gridCol w="680525"/>
                <a:gridCol w="680525"/>
                <a:gridCol w="398275"/>
                <a:gridCol w="671450"/>
                <a:gridCol w="680525"/>
                <a:gridCol w="680525"/>
              </a:tblGrid>
              <a:tr h="314325">
                <a:tc rowSpan="2">
                  <a:txBody>
                    <a:bodyPr/>
                    <a:lstStyle/>
                    <a:p>
                      <a:pPr indent="0" lvl="0" marL="0" rtl="0" algn="just">
                        <a:lnSpc>
                          <a:spcPct val="150000"/>
                        </a:lnSpc>
                        <a:spcBef>
                          <a:spcPts val="0"/>
                        </a:spcBef>
                        <a:spcAft>
                          <a:spcPts val="800"/>
                        </a:spcAft>
                        <a:buNone/>
                      </a:pPr>
                      <a:r>
                        <a:rPr b="1" lang="en-US" sz="800">
                          <a:latin typeface="Calibri"/>
                          <a:ea typeface="Calibri"/>
                          <a:cs typeface="Calibri"/>
                          <a:sym typeface="Calibri"/>
                        </a:rPr>
                        <a:t>Actividad</a:t>
                      </a:r>
                      <a:endParaRPr b="1" sz="800">
                        <a:latin typeface="Calibri"/>
                        <a:ea typeface="Calibri"/>
                        <a:cs typeface="Calibri"/>
                        <a:sym typeface="Calibri"/>
                      </a:endParaRPr>
                    </a:p>
                  </a:txBody>
                  <a:tcPr marT="0" marB="0" marR="68575" marL="68575"/>
                </a:tc>
                <a:tc gridSpan="4">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Fase 1</a:t>
                      </a:r>
                      <a:endParaRPr b="1" sz="800">
                        <a:latin typeface="Calibri"/>
                        <a:ea typeface="Calibri"/>
                        <a:cs typeface="Calibri"/>
                        <a:sym typeface="Calibri"/>
                      </a:endParaRPr>
                    </a:p>
                  </a:txBody>
                  <a:tcPr marT="0" marB="0" marR="68575" marL="68575">
                    <a:solidFill>
                      <a:srgbClr val="E2EFD9"/>
                    </a:solidFill>
                  </a:tcPr>
                </a:tc>
                <a:tc hMerge="1"/>
                <a:tc hMerge="1"/>
                <a:tc hMerge="1"/>
                <a:tc gridSpan="12">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Fase 2</a:t>
                      </a:r>
                      <a:endParaRPr b="1" sz="800">
                        <a:latin typeface="Calibri"/>
                        <a:ea typeface="Calibri"/>
                        <a:cs typeface="Calibri"/>
                        <a:sym typeface="Calibri"/>
                      </a:endParaRPr>
                    </a:p>
                  </a:txBody>
                  <a:tcPr marT="0" marB="0" marR="68575" marL="68575">
                    <a:solidFill>
                      <a:srgbClr val="FFF2CC"/>
                    </a:solidFill>
                  </a:tcPr>
                </a:tc>
                <a:tc hMerge="1"/>
                <a:tc hMerge="1"/>
                <a:tc hMerge="1"/>
                <a:tc hMerge="1"/>
                <a:tc hMerge="1"/>
                <a:tc hMerge="1"/>
                <a:tc hMerge="1"/>
                <a:tc hMerge="1"/>
                <a:tc hMerge="1"/>
                <a:tc hMerge="1"/>
                <a:tc hMerge="1"/>
                <a:tc gridSpan="3">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Fase 3</a:t>
                      </a:r>
                      <a:endParaRPr b="1" sz="800">
                        <a:latin typeface="Calibri"/>
                        <a:ea typeface="Calibri"/>
                        <a:cs typeface="Calibri"/>
                        <a:sym typeface="Calibri"/>
                      </a:endParaRPr>
                    </a:p>
                  </a:txBody>
                  <a:tcPr marT="0" marB="0" marR="68575" marL="68575">
                    <a:solidFill>
                      <a:srgbClr val="FBE5D5"/>
                    </a:solidFill>
                  </a:tcPr>
                </a:tc>
                <a:tc hMerge="1"/>
                <a:tc hMerge="1"/>
              </a:tr>
              <a:tr h="314325">
                <a:tc vMerge="1"/>
                <a:tc>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S 1</a:t>
                      </a:r>
                      <a:endParaRPr b="1" sz="800">
                        <a:latin typeface="Calibri"/>
                        <a:ea typeface="Calibri"/>
                        <a:cs typeface="Calibri"/>
                        <a:sym typeface="Calibri"/>
                      </a:endParaRPr>
                    </a:p>
                  </a:txBody>
                  <a:tcPr marT="0" marB="0" marR="68575" marL="68575"/>
                </a:tc>
                <a:tc>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S 2</a:t>
                      </a:r>
                      <a:endParaRPr b="1" sz="800">
                        <a:latin typeface="Calibri"/>
                        <a:ea typeface="Calibri"/>
                        <a:cs typeface="Calibri"/>
                        <a:sym typeface="Calibri"/>
                      </a:endParaRPr>
                    </a:p>
                  </a:txBody>
                  <a:tcPr marT="0" marB="0" marR="68575" marL="68575"/>
                </a:tc>
                <a:tc>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S 3</a:t>
                      </a:r>
                      <a:endParaRPr b="1" sz="800">
                        <a:latin typeface="Calibri"/>
                        <a:ea typeface="Calibri"/>
                        <a:cs typeface="Calibri"/>
                        <a:sym typeface="Calibri"/>
                      </a:endParaRPr>
                    </a:p>
                  </a:txBody>
                  <a:tcPr marT="0" marB="0" marR="68575" marL="68575"/>
                </a:tc>
                <a:tc>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S 4</a:t>
                      </a:r>
                      <a:endParaRPr b="1" sz="800">
                        <a:latin typeface="Calibri"/>
                        <a:ea typeface="Calibri"/>
                        <a:cs typeface="Calibri"/>
                        <a:sym typeface="Calibri"/>
                      </a:endParaRPr>
                    </a:p>
                  </a:txBody>
                  <a:tcPr marT="0" marB="0" marR="68575" marL="68575"/>
                </a:tc>
                <a:tc>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S 5</a:t>
                      </a:r>
                      <a:endParaRPr b="1" sz="800">
                        <a:latin typeface="Calibri"/>
                        <a:ea typeface="Calibri"/>
                        <a:cs typeface="Calibri"/>
                        <a:sym typeface="Calibri"/>
                      </a:endParaRPr>
                    </a:p>
                  </a:txBody>
                  <a:tcPr marT="0" marB="0" marR="68575" marL="68575"/>
                </a:tc>
                <a:tc>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S 6</a:t>
                      </a:r>
                      <a:endParaRPr b="1" sz="800">
                        <a:latin typeface="Calibri"/>
                        <a:ea typeface="Calibri"/>
                        <a:cs typeface="Calibri"/>
                        <a:sym typeface="Calibri"/>
                      </a:endParaRPr>
                    </a:p>
                  </a:txBody>
                  <a:tcPr marT="0" marB="0" marR="68575" marL="68575"/>
                </a:tc>
                <a:tc>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S 7</a:t>
                      </a:r>
                      <a:endParaRPr b="1" sz="800">
                        <a:latin typeface="Calibri"/>
                        <a:ea typeface="Calibri"/>
                        <a:cs typeface="Calibri"/>
                        <a:sym typeface="Calibri"/>
                      </a:endParaRPr>
                    </a:p>
                  </a:txBody>
                  <a:tcPr marT="0" marB="0" marR="68575" marL="68575"/>
                </a:tc>
                <a:tc>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S 8</a:t>
                      </a:r>
                      <a:endParaRPr b="1" sz="800">
                        <a:latin typeface="Calibri"/>
                        <a:ea typeface="Calibri"/>
                        <a:cs typeface="Calibri"/>
                        <a:sym typeface="Calibri"/>
                      </a:endParaRPr>
                    </a:p>
                  </a:txBody>
                  <a:tcPr marT="0" marB="0" marR="68575" marL="68575"/>
                </a:tc>
                <a:tc>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S 9</a:t>
                      </a:r>
                      <a:endParaRPr b="1" sz="800">
                        <a:latin typeface="Calibri"/>
                        <a:ea typeface="Calibri"/>
                        <a:cs typeface="Calibri"/>
                        <a:sym typeface="Calibri"/>
                      </a:endParaRPr>
                    </a:p>
                  </a:txBody>
                  <a:tcPr marT="0" marB="0" marR="68575" marL="68575"/>
                </a:tc>
                <a:tc>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S 10</a:t>
                      </a:r>
                      <a:endParaRPr b="1" sz="800">
                        <a:latin typeface="Calibri"/>
                        <a:ea typeface="Calibri"/>
                        <a:cs typeface="Calibri"/>
                        <a:sym typeface="Calibri"/>
                      </a:endParaRPr>
                    </a:p>
                  </a:txBody>
                  <a:tcPr marT="0" marB="0" marR="68575" marL="68575"/>
                </a:tc>
                <a:tc>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S 11</a:t>
                      </a:r>
                      <a:endParaRPr b="1" sz="800">
                        <a:latin typeface="Calibri"/>
                        <a:ea typeface="Calibri"/>
                        <a:cs typeface="Calibri"/>
                        <a:sym typeface="Calibri"/>
                      </a:endParaRPr>
                    </a:p>
                  </a:txBody>
                  <a:tcPr marT="0" marB="0" marR="68575" marL="68575"/>
                </a:tc>
                <a:tc>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S 12</a:t>
                      </a:r>
                      <a:endParaRPr b="1" sz="800">
                        <a:latin typeface="Calibri"/>
                        <a:ea typeface="Calibri"/>
                        <a:cs typeface="Calibri"/>
                        <a:sym typeface="Calibri"/>
                      </a:endParaRPr>
                    </a:p>
                  </a:txBody>
                  <a:tcPr marT="0" marB="0" marR="68575" marL="68575"/>
                </a:tc>
                <a:tc>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S 13</a:t>
                      </a:r>
                      <a:endParaRPr b="1" sz="800">
                        <a:latin typeface="Calibri"/>
                        <a:ea typeface="Calibri"/>
                        <a:cs typeface="Calibri"/>
                        <a:sym typeface="Calibri"/>
                      </a:endParaRPr>
                    </a:p>
                  </a:txBody>
                  <a:tcPr marT="0" marB="0" marR="68575" marL="68575"/>
                </a:tc>
                <a:tc>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S 14</a:t>
                      </a:r>
                      <a:endParaRPr b="1" sz="800">
                        <a:latin typeface="Calibri"/>
                        <a:ea typeface="Calibri"/>
                        <a:cs typeface="Calibri"/>
                        <a:sym typeface="Calibri"/>
                      </a:endParaRPr>
                    </a:p>
                  </a:txBody>
                  <a:tcPr marT="0" marB="0" marR="68575" marL="68575"/>
                </a:tc>
                <a:tc>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S 15</a:t>
                      </a:r>
                      <a:endParaRPr b="1" sz="800">
                        <a:latin typeface="Calibri"/>
                        <a:ea typeface="Calibri"/>
                        <a:cs typeface="Calibri"/>
                        <a:sym typeface="Calibri"/>
                      </a:endParaRPr>
                    </a:p>
                  </a:txBody>
                  <a:tcPr marT="0" marB="0" marR="68575" marL="68575"/>
                </a:tc>
                <a:tc gridSpan="2">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S 16</a:t>
                      </a:r>
                      <a:endParaRPr b="1" sz="800">
                        <a:latin typeface="Calibri"/>
                        <a:ea typeface="Calibri"/>
                        <a:cs typeface="Calibri"/>
                        <a:sym typeface="Calibri"/>
                      </a:endParaRPr>
                    </a:p>
                  </a:txBody>
                  <a:tcPr marT="0" marB="0" marR="68575" marL="68575"/>
                </a:tc>
                <a:tc hMerge="1"/>
                <a:tc>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S 17</a:t>
                      </a:r>
                      <a:endParaRPr b="1" sz="800">
                        <a:latin typeface="Calibri"/>
                        <a:ea typeface="Calibri"/>
                        <a:cs typeface="Calibri"/>
                        <a:sym typeface="Calibri"/>
                      </a:endParaRPr>
                    </a:p>
                  </a:txBody>
                  <a:tcPr marT="0" marB="0" marR="68575" marL="68575"/>
                </a:tc>
                <a:tc>
                  <a:txBody>
                    <a:bodyPr/>
                    <a:lstStyle/>
                    <a:p>
                      <a:pPr indent="0" lvl="0" marL="0" rtl="0" algn="ctr">
                        <a:lnSpc>
                          <a:spcPct val="150000"/>
                        </a:lnSpc>
                        <a:spcBef>
                          <a:spcPts val="0"/>
                        </a:spcBef>
                        <a:spcAft>
                          <a:spcPts val="800"/>
                        </a:spcAft>
                        <a:buNone/>
                      </a:pPr>
                      <a:r>
                        <a:rPr b="1" lang="en-US" sz="800">
                          <a:latin typeface="Calibri"/>
                          <a:ea typeface="Calibri"/>
                          <a:cs typeface="Calibri"/>
                          <a:sym typeface="Calibri"/>
                        </a:rPr>
                        <a:t>S 18</a:t>
                      </a:r>
                      <a:endParaRPr b="1" sz="800">
                        <a:latin typeface="Calibri"/>
                        <a:ea typeface="Calibri"/>
                        <a:cs typeface="Calibri"/>
                        <a:sym typeface="Calibri"/>
                      </a:endParaRPr>
                    </a:p>
                  </a:txBody>
                  <a:tcPr marT="0" marB="0" marR="68575" marL="68575"/>
                </a:tc>
              </a:tr>
              <a:tr h="272425">
                <a:tc>
                  <a:txBody>
                    <a:bodyPr/>
                    <a:lstStyle/>
                    <a:p>
                      <a:pPr indent="0" lvl="0" marL="0" rtl="0" algn="just">
                        <a:lnSpc>
                          <a:spcPct val="107916"/>
                        </a:lnSpc>
                        <a:spcBef>
                          <a:spcPts val="0"/>
                        </a:spcBef>
                        <a:spcAft>
                          <a:spcPts val="800"/>
                        </a:spcAft>
                        <a:buNone/>
                      </a:pPr>
                      <a:r>
                        <a:rPr lang="en-US" sz="900">
                          <a:latin typeface="Calibri"/>
                          <a:ea typeface="Calibri"/>
                          <a:cs typeface="Calibri"/>
                          <a:sym typeface="Calibri"/>
                        </a:rPr>
                        <a:t>Análisis de requerimientos (ERS)</a:t>
                      </a:r>
                      <a:endParaRPr sz="9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E2EFD9"/>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E2EFD9"/>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gridSpan="2">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hMerge="1"/>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r>
              <a:tr h="440050">
                <a:tc>
                  <a:txBody>
                    <a:bodyPr/>
                    <a:lstStyle/>
                    <a:p>
                      <a:pPr indent="0" lvl="0" marL="0" rtl="0" algn="just">
                        <a:lnSpc>
                          <a:spcPct val="107916"/>
                        </a:lnSpc>
                        <a:spcBef>
                          <a:spcPts val="0"/>
                        </a:spcBef>
                        <a:spcAft>
                          <a:spcPts val="800"/>
                        </a:spcAft>
                        <a:buNone/>
                      </a:pPr>
                      <a:r>
                        <a:rPr lang="en-US" sz="900">
                          <a:latin typeface="Calibri"/>
                          <a:ea typeface="Calibri"/>
                          <a:cs typeface="Calibri"/>
                          <a:sym typeface="Calibri"/>
                        </a:rPr>
                        <a:t>Planificación y control del proyecto</a:t>
                      </a:r>
                      <a:endParaRPr sz="9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E2EFD9"/>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E2EFD9"/>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E2EFD9"/>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E2EFD9"/>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gridSpan="2">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BE5D5"/>
                    </a:solidFill>
                  </a:tcPr>
                </a:tc>
                <a:tc hMerge="1"/>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BE5D5"/>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BE5D5"/>
                    </a:solidFill>
                  </a:tcPr>
                </a:tc>
              </a:tr>
              <a:tr h="440050">
                <a:tc>
                  <a:txBody>
                    <a:bodyPr/>
                    <a:lstStyle/>
                    <a:p>
                      <a:pPr indent="0" lvl="0" marL="0" rtl="0" algn="just">
                        <a:lnSpc>
                          <a:spcPct val="107916"/>
                        </a:lnSpc>
                        <a:spcBef>
                          <a:spcPts val="0"/>
                        </a:spcBef>
                        <a:spcAft>
                          <a:spcPts val="800"/>
                        </a:spcAft>
                        <a:buNone/>
                      </a:pPr>
                      <a:r>
                        <a:rPr lang="en-US" sz="900">
                          <a:latin typeface="Calibri"/>
                          <a:ea typeface="Calibri"/>
                          <a:cs typeface="Calibri"/>
                          <a:sym typeface="Calibri"/>
                        </a:rPr>
                        <a:t>Diseño y creación de base de datos</a:t>
                      </a:r>
                      <a:endParaRPr sz="9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E2EFD9"/>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E2EFD9"/>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gridSpan="2">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hMerge="1"/>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r>
              <a:tr h="272425">
                <a:tc>
                  <a:txBody>
                    <a:bodyPr/>
                    <a:lstStyle/>
                    <a:p>
                      <a:pPr indent="0" lvl="0" marL="0" rtl="0" algn="just">
                        <a:lnSpc>
                          <a:spcPct val="107916"/>
                        </a:lnSpc>
                        <a:spcBef>
                          <a:spcPts val="0"/>
                        </a:spcBef>
                        <a:spcAft>
                          <a:spcPts val="800"/>
                        </a:spcAft>
                        <a:buNone/>
                      </a:pPr>
                      <a:r>
                        <a:rPr lang="en-US" sz="900">
                          <a:latin typeface="Calibri"/>
                          <a:ea typeface="Calibri"/>
                          <a:cs typeface="Calibri"/>
                          <a:sym typeface="Calibri"/>
                        </a:rPr>
                        <a:t>Diseño de arquitectura (DAS)</a:t>
                      </a:r>
                      <a:endParaRPr sz="9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E2EFD9"/>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gridSpan="2">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hMerge="1"/>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r>
              <a:tr h="440050">
                <a:tc>
                  <a:txBody>
                    <a:bodyPr/>
                    <a:lstStyle/>
                    <a:p>
                      <a:pPr indent="0" lvl="0" marL="0" rtl="0" algn="just">
                        <a:lnSpc>
                          <a:spcPct val="107916"/>
                        </a:lnSpc>
                        <a:spcBef>
                          <a:spcPts val="0"/>
                        </a:spcBef>
                        <a:spcAft>
                          <a:spcPts val="800"/>
                        </a:spcAft>
                        <a:buNone/>
                      </a:pPr>
                      <a:r>
                        <a:rPr lang="en-US" sz="900">
                          <a:latin typeface="Calibri"/>
                          <a:ea typeface="Calibri"/>
                          <a:cs typeface="Calibri"/>
                          <a:sym typeface="Calibri"/>
                        </a:rPr>
                        <a:t>Integración de datos y procesamiento</a:t>
                      </a:r>
                      <a:endParaRPr sz="9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gridSpan="2">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hMerge="1"/>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r>
              <a:tr h="440050">
                <a:tc>
                  <a:txBody>
                    <a:bodyPr/>
                    <a:lstStyle/>
                    <a:p>
                      <a:pPr indent="0" lvl="0" marL="0" rtl="0" algn="just">
                        <a:lnSpc>
                          <a:spcPct val="107916"/>
                        </a:lnSpc>
                        <a:spcBef>
                          <a:spcPts val="0"/>
                        </a:spcBef>
                        <a:spcAft>
                          <a:spcPts val="800"/>
                        </a:spcAft>
                        <a:buNone/>
                      </a:pPr>
                      <a:r>
                        <a:rPr lang="en-US" sz="900">
                          <a:latin typeface="Calibri"/>
                          <a:ea typeface="Calibri"/>
                          <a:cs typeface="Calibri"/>
                          <a:sym typeface="Calibri"/>
                        </a:rPr>
                        <a:t>Desarrollo de front-end y back-end</a:t>
                      </a:r>
                      <a:endParaRPr sz="9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gridSpan="2">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hMerge="1"/>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r>
              <a:tr h="272425">
                <a:tc>
                  <a:txBody>
                    <a:bodyPr/>
                    <a:lstStyle/>
                    <a:p>
                      <a:pPr indent="0" lvl="0" marL="0" rtl="0" algn="just">
                        <a:lnSpc>
                          <a:spcPct val="107916"/>
                        </a:lnSpc>
                        <a:spcBef>
                          <a:spcPts val="0"/>
                        </a:spcBef>
                        <a:spcAft>
                          <a:spcPts val="800"/>
                        </a:spcAft>
                        <a:buNone/>
                      </a:pPr>
                      <a:r>
                        <a:rPr lang="en-US" sz="900">
                          <a:latin typeface="Calibri"/>
                          <a:ea typeface="Calibri"/>
                          <a:cs typeface="Calibri"/>
                          <a:sym typeface="Calibri"/>
                        </a:rPr>
                        <a:t>Programación SQL</a:t>
                      </a:r>
                      <a:endParaRPr sz="9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gridSpan="2">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hMerge="1"/>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r>
              <a:tr h="440050">
                <a:tc>
                  <a:txBody>
                    <a:bodyPr/>
                    <a:lstStyle/>
                    <a:p>
                      <a:pPr indent="0" lvl="0" marL="0" rtl="0" algn="just">
                        <a:lnSpc>
                          <a:spcPct val="107916"/>
                        </a:lnSpc>
                        <a:spcBef>
                          <a:spcPts val="0"/>
                        </a:spcBef>
                        <a:spcAft>
                          <a:spcPts val="800"/>
                        </a:spcAft>
                        <a:buNone/>
                      </a:pPr>
                      <a:r>
                        <a:rPr lang="en-US" sz="900">
                          <a:latin typeface="Calibri"/>
                          <a:ea typeface="Calibri"/>
                          <a:cs typeface="Calibri"/>
                          <a:sym typeface="Calibri"/>
                        </a:rPr>
                        <a:t>Integración de agentes inteligentes</a:t>
                      </a:r>
                      <a:endParaRPr sz="9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gridSpan="2">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hMerge="1"/>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r>
              <a:tr h="272425">
                <a:tc>
                  <a:txBody>
                    <a:bodyPr/>
                    <a:lstStyle/>
                    <a:p>
                      <a:pPr indent="0" lvl="0" marL="0" rtl="0" algn="just">
                        <a:lnSpc>
                          <a:spcPct val="107916"/>
                        </a:lnSpc>
                        <a:spcBef>
                          <a:spcPts val="0"/>
                        </a:spcBef>
                        <a:spcAft>
                          <a:spcPts val="800"/>
                        </a:spcAft>
                        <a:buNone/>
                      </a:pPr>
                      <a:r>
                        <a:rPr lang="en-US" sz="900">
                          <a:latin typeface="Calibri"/>
                          <a:ea typeface="Calibri"/>
                          <a:cs typeface="Calibri"/>
                          <a:sym typeface="Calibri"/>
                        </a:rPr>
                        <a:t>Despliegue en Azure</a:t>
                      </a:r>
                      <a:endParaRPr sz="9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2CC"/>
                    </a:solidFill>
                  </a:tcPr>
                </a:tc>
                <a:tc gridSpan="2">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4CCCC"/>
                    </a:solidFill>
                  </a:tcPr>
                </a:tc>
                <a:tc hMerge="1"/>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4CCCC"/>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r>
              <a:tr h="272425">
                <a:tc>
                  <a:txBody>
                    <a:bodyPr/>
                    <a:lstStyle/>
                    <a:p>
                      <a:pPr indent="0" lvl="0" marL="0" rtl="0" algn="just">
                        <a:lnSpc>
                          <a:spcPct val="107916"/>
                        </a:lnSpc>
                        <a:spcBef>
                          <a:spcPts val="0"/>
                        </a:spcBef>
                        <a:spcAft>
                          <a:spcPts val="800"/>
                        </a:spcAft>
                        <a:buNone/>
                      </a:pPr>
                      <a:r>
                        <a:rPr lang="en-US" sz="900">
                          <a:latin typeface="Calibri"/>
                          <a:ea typeface="Calibri"/>
                          <a:cs typeface="Calibri"/>
                          <a:sym typeface="Calibri"/>
                        </a:rPr>
                        <a:t>Validación de seguridad</a:t>
                      </a:r>
                      <a:endParaRPr sz="9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gridSpan="2">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hMerge="1"/>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FFFFF"/>
                    </a:solidFill>
                  </a:tcPr>
                </a:tc>
                <a:tc>
                  <a:txBody>
                    <a:bodyPr/>
                    <a:lstStyle/>
                    <a:p>
                      <a:pPr indent="0" lvl="0" marL="0" rtl="0" algn="just">
                        <a:lnSpc>
                          <a:spcPct val="150000"/>
                        </a:lnSpc>
                        <a:spcBef>
                          <a:spcPts val="0"/>
                        </a:spcBef>
                        <a:spcAft>
                          <a:spcPts val="800"/>
                        </a:spcAft>
                        <a:buNone/>
                      </a:pPr>
                      <a:r>
                        <a:t/>
                      </a:r>
                      <a:endParaRPr b="1" sz="800">
                        <a:latin typeface="Calibri"/>
                        <a:ea typeface="Calibri"/>
                        <a:cs typeface="Calibri"/>
                        <a:sym typeface="Calibri"/>
                      </a:endParaRPr>
                    </a:p>
                  </a:txBody>
                  <a:tcPr marT="0" marB="0" marR="68575" marL="68575">
                    <a:solidFill>
                      <a:srgbClr val="FBE5D5"/>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193" name="Shape 193"/>
        <p:cNvGrpSpPr/>
        <p:nvPr/>
      </p:nvGrpSpPr>
      <p:grpSpPr>
        <a:xfrm>
          <a:off x="0" y="0"/>
          <a:ext cx="0" cy="0"/>
          <a:chOff x="0" y="0"/>
          <a:chExt cx="0" cy="0"/>
        </a:xfrm>
      </p:grpSpPr>
      <p:sp>
        <p:nvSpPr>
          <p:cNvPr id="194" name="Google Shape;194;p12"/>
          <p:cNvSpPr txBox="1"/>
          <p:nvPr/>
        </p:nvSpPr>
        <p:spPr>
          <a:xfrm>
            <a:off x="1181100" y="1228725"/>
            <a:ext cx="8596781" cy="20046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Arquitectura del software</a:t>
            </a:r>
            <a:endParaRPr/>
          </a:p>
        </p:txBody>
      </p:sp>
      <p:cxnSp>
        <p:nvCxnSpPr>
          <p:cNvPr id="195" name="Google Shape;195;p12"/>
          <p:cNvCxnSpPr/>
          <p:nvPr/>
        </p:nvCxnSpPr>
        <p:spPr>
          <a:xfrm>
            <a:off x="1092800" y="3428997"/>
            <a:ext cx="7211100" cy="0"/>
          </a:xfrm>
          <a:prstGeom prst="straightConnector1">
            <a:avLst/>
          </a:prstGeom>
          <a:noFill/>
          <a:ln cap="flat" cmpd="sng" w="19050">
            <a:solidFill>
              <a:srgbClr val="307FE2"/>
            </a:solidFill>
            <a:prstDash val="solid"/>
            <a:round/>
            <a:headEnd len="sm" w="sm" type="none"/>
            <a:tailEnd len="sm" w="sm" type="none"/>
          </a:ln>
        </p:spPr>
      </p:cxnSp>
      <p:sp>
        <p:nvSpPr>
          <p:cNvPr id="196" name="Google Shape;196;p12"/>
          <p:cNvSpPr/>
          <p:nvPr/>
        </p:nvSpPr>
        <p:spPr>
          <a:xfrm>
            <a:off x="4052888" y="3769039"/>
            <a:ext cx="10182225" cy="5610614"/>
          </a:xfrm>
          <a:custGeom>
            <a:rect b="b" l="l" r="r" t="t"/>
            <a:pathLst>
              <a:path extrusionOk="0" h="5610614" w="10182225">
                <a:moveTo>
                  <a:pt x="0" y="0"/>
                </a:moveTo>
                <a:lnTo>
                  <a:pt x="10182224" y="0"/>
                </a:lnTo>
                <a:lnTo>
                  <a:pt x="10182224" y="5610614"/>
                </a:lnTo>
                <a:lnTo>
                  <a:pt x="0" y="5610614"/>
                </a:lnTo>
                <a:lnTo>
                  <a:pt x="0" y="0"/>
                </a:lnTo>
                <a:close/>
              </a:path>
            </a:pathLst>
          </a:custGeom>
          <a:blipFill rotWithShape="1">
            <a:blip r:embed="rId3">
              <a:alphaModFix/>
            </a:blip>
            <a:stretch>
              <a:fillRect b="0" l="0" r="0" t="0"/>
            </a:stretch>
          </a:blipFill>
          <a:ln>
            <a:noFill/>
          </a:ln>
        </p:spPr>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200" name="Shape 200"/>
        <p:cNvGrpSpPr/>
        <p:nvPr/>
      </p:nvGrpSpPr>
      <p:grpSpPr>
        <a:xfrm>
          <a:off x="0" y="0"/>
          <a:ext cx="0" cy="0"/>
          <a:chOff x="0" y="0"/>
          <a:chExt cx="0" cy="0"/>
        </a:xfrm>
      </p:grpSpPr>
      <p:sp>
        <p:nvSpPr>
          <p:cNvPr id="201" name="Google Shape;201;p13"/>
          <p:cNvSpPr/>
          <p:nvPr/>
        </p:nvSpPr>
        <p:spPr>
          <a:xfrm>
            <a:off x="2632553" y="1406617"/>
            <a:ext cx="13022894" cy="8562553"/>
          </a:xfrm>
          <a:custGeom>
            <a:rect b="b" l="l" r="r" t="t"/>
            <a:pathLst>
              <a:path extrusionOk="0" h="8562553" w="13022894">
                <a:moveTo>
                  <a:pt x="0" y="0"/>
                </a:moveTo>
                <a:lnTo>
                  <a:pt x="13022894" y="0"/>
                </a:lnTo>
                <a:lnTo>
                  <a:pt x="13022894" y="8562553"/>
                </a:lnTo>
                <a:lnTo>
                  <a:pt x="0" y="8562553"/>
                </a:lnTo>
                <a:lnTo>
                  <a:pt x="0" y="0"/>
                </a:lnTo>
                <a:close/>
              </a:path>
            </a:pathLst>
          </a:custGeom>
          <a:blipFill rotWithShape="1">
            <a:blip r:embed="rId3">
              <a:alphaModFix/>
            </a:blip>
            <a:stretch>
              <a:fillRect b="0" l="0" r="0" t="0"/>
            </a:stretch>
          </a:blipFill>
          <a:ln>
            <a:noFill/>
          </a:ln>
        </p:spPr>
      </p:sp>
      <p:sp>
        <p:nvSpPr>
          <p:cNvPr id="202" name="Google Shape;202;p13"/>
          <p:cNvSpPr txBox="1"/>
          <p:nvPr/>
        </p:nvSpPr>
        <p:spPr>
          <a:xfrm>
            <a:off x="4006649" y="329025"/>
            <a:ext cx="10274700" cy="1077600"/>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0A6ED8"/>
                </a:solidFill>
                <a:latin typeface="Montserrat"/>
                <a:ea typeface="Montserrat"/>
                <a:cs typeface="Montserrat"/>
                <a:sym typeface="Montserrat"/>
              </a:rPr>
              <a:t>Modelo de basedatos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206" name="Shape 206"/>
        <p:cNvGrpSpPr/>
        <p:nvPr/>
      </p:nvGrpSpPr>
      <p:grpSpPr>
        <a:xfrm>
          <a:off x="0" y="0"/>
          <a:ext cx="0" cy="0"/>
          <a:chOff x="0" y="0"/>
          <a:chExt cx="0" cy="0"/>
        </a:xfrm>
      </p:grpSpPr>
      <p:sp>
        <p:nvSpPr>
          <p:cNvPr id="207" name="Google Shape;207;p14"/>
          <p:cNvSpPr/>
          <p:nvPr/>
        </p:nvSpPr>
        <p:spPr>
          <a:xfrm>
            <a:off x="14650227" y="5449699"/>
            <a:ext cx="3230963" cy="1163147"/>
          </a:xfrm>
          <a:custGeom>
            <a:rect b="b" l="l" r="r" t="t"/>
            <a:pathLst>
              <a:path extrusionOk="0" h="1163147" w="3230963">
                <a:moveTo>
                  <a:pt x="0" y="0"/>
                </a:moveTo>
                <a:lnTo>
                  <a:pt x="3230963" y="0"/>
                </a:lnTo>
                <a:lnTo>
                  <a:pt x="3230963" y="1163146"/>
                </a:lnTo>
                <a:lnTo>
                  <a:pt x="0" y="1163146"/>
                </a:lnTo>
                <a:lnTo>
                  <a:pt x="0" y="0"/>
                </a:lnTo>
                <a:close/>
              </a:path>
            </a:pathLst>
          </a:custGeom>
          <a:blipFill rotWithShape="1">
            <a:blip r:embed="rId3">
              <a:alphaModFix/>
            </a:blip>
            <a:stretch>
              <a:fillRect b="0" l="0" r="0" t="0"/>
            </a:stretch>
          </a:blipFill>
          <a:ln>
            <a:noFill/>
          </a:ln>
        </p:spPr>
      </p:sp>
      <p:sp>
        <p:nvSpPr>
          <p:cNvPr id="208" name="Google Shape;208;p14"/>
          <p:cNvSpPr/>
          <p:nvPr/>
        </p:nvSpPr>
        <p:spPr>
          <a:xfrm>
            <a:off x="14562832" y="7530219"/>
            <a:ext cx="3318358" cy="869274"/>
          </a:xfrm>
          <a:custGeom>
            <a:rect b="b" l="l" r="r" t="t"/>
            <a:pathLst>
              <a:path extrusionOk="0" h="869274" w="3318358">
                <a:moveTo>
                  <a:pt x="0" y="0"/>
                </a:moveTo>
                <a:lnTo>
                  <a:pt x="3318358" y="0"/>
                </a:lnTo>
                <a:lnTo>
                  <a:pt x="3318358" y="869274"/>
                </a:lnTo>
                <a:lnTo>
                  <a:pt x="0" y="869274"/>
                </a:lnTo>
                <a:lnTo>
                  <a:pt x="0" y="0"/>
                </a:lnTo>
                <a:close/>
              </a:path>
            </a:pathLst>
          </a:custGeom>
          <a:blipFill rotWithShape="1">
            <a:blip r:embed="rId4">
              <a:alphaModFix/>
            </a:blip>
            <a:stretch>
              <a:fillRect b="0" l="0" r="0" t="0"/>
            </a:stretch>
          </a:blipFill>
          <a:ln>
            <a:noFill/>
          </a:ln>
        </p:spPr>
      </p:sp>
      <p:sp>
        <p:nvSpPr>
          <p:cNvPr id="209" name="Google Shape;209;p14"/>
          <p:cNvSpPr/>
          <p:nvPr/>
        </p:nvSpPr>
        <p:spPr>
          <a:xfrm>
            <a:off x="1028700" y="4494252"/>
            <a:ext cx="4507654" cy="2069087"/>
          </a:xfrm>
          <a:custGeom>
            <a:rect b="b" l="l" r="r" t="t"/>
            <a:pathLst>
              <a:path extrusionOk="0" h="2069087" w="4507654">
                <a:moveTo>
                  <a:pt x="0" y="0"/>
                </a:moveTo>
                <a:lnTo>
                  <a:pt x="4507654" y="0"/>
                </a:lnTo>
                <a:lnTo>
                  <a:pt x="4507654" y="2069087"/>
                </a:lnTo>
                <a:lnTo>
                  <a:pt x="0" y="2069087"/>
                </a:lnTo>
                <a:lnTo>
                  <a:pt x="0" y="0"/>
                </a:lnTo>
                <a:close/>
              </a:path>
            </a:pathLst>
          </a:custGeom>
          <a:blipFill rotWithShape="1">
            <a:blip r:embed="rId5">
              <a:alphaModFix/>
            </a:blip>
            <a:stretch>
              <a:fillRect b="0" l="0" r="0" t="0"/>
            </a:stretch>
          </a:blipFill>
          <a:ln>
            <a:noFill/>
          </a:ln>
        </p:spPr>
      </p:sp>
      <p:sp>
        <p:nvSpPr>
          <p:cNvPr id="210" name="Google Shape;210;p14"/>
          <p:cNvSpPr/>
          <p:nvPr/>
        </p:nvSpPr>
        <p:spPr>
          <a:xfrm>
            <a:off x="6615518" y="4798219"/>
            <a:ext cx="3102286" cy="1302960"/>
          </a:xfrm>
          <a:custGeom>
            <a:rect b="b" l="l" r="r" t="t"/>
            <a:pathLst>
              <a:path extrusionOk="0" h="1302960" w="3102286">
                <a:moveTo>
                  <a:pt x="0" y="0"/>
                </a:moveTo>
                <a:lnTo>
                  <a:pt x="3102286" y="0"/>
                </a:lnTo>
                <a:lnTo>
                  <a:pt x="3102286" y="1302960"/>
                </a:lnTo>
                <a:lnTo>
                  <a:pt x="0" y="1302960"/>
                </a:lnTo>
                <a:lnTo>
                  <a:pt x="0" y="0"/>
                </a:lnTo>
                <a:close/>
              </a:path>
            </a:pathLst>
          </a:custGeom>
          <a:blipFill rotWithShape="1">
            <a:blip r:embed="rId6">
              <a:alphaModFix/>
            </a:blip>
            <a:stretch>
              <a:fillRect b="0" l="0" r="0" t="0"/>
            </a:stretch>
          </a:blipFill>
          <a:ln>
            <a:noFill/>
          </a:ln>
        </p:spPr>
      </p:sp>
      <p:sp>
        <p:nvSpPr>
          <p:cNvPr id="211" name="Google Shape;211;p14"/>
          <p:cNvSpPr/>
          <p:nvPr/>
        </p:nvSpPr>
        <p:spPr>
          <a:xfrm>
            <a:off x="570348" y="7640657"/>
            <a:ext cx="4695930" cy="1743364"/>
          </a:xfrm>
          <a:custGeom>
            <a:rect b="b" l="l" r="r" t="t"/>
            <a:pathLst>
              <a:path extrusionOk="0" h="1743364" w="4695930">
                <a:moveTo>
                  <a:pt x="0" y="0"/>
                </a:moveTo>
                <a:lnTo>
                  <a:pt x="4695931" y="0"/>
                </a:lnTo>
                <a:lnTo>
                  <a:pt x="4695931" y="1743365"/>
                </a:lnTo>
                <a:lnTo>
                  <a:pt x="0" y="1743365"/>
                </a:lnTo>
                <a:lnTo>
                  <a:pt x="0" y="0"/>
                </a:lnTo>
                <a:close/>
              </a:path>
            </a:pathLst>
          </a:custGeom>
          <a:blipFill rotWithShape="1">
            <a:blip r:embed="rId7">
              <a:alphaModFix/>
            </a:blip>
            <a:stretch>
              <a:fillRect b="0" l="0" r="0" t="0"/>
            </a:stretch>
          </a:blipFill>
          <a:ln>
            <a:noFill/>
          </a:ln>
        </p:spPr>
      </p:sp>
      <p:sp>
        <p:nvSpPr>
          <p:cNvPr id="212" name="Google Shape;212;p14"/>
          <p:cNvSpPr/>
          <p:nvPr/>
        </p:nvSpPr>
        <p:spPr>
          <a:xfrm>
            <a:off x="10450513" y="2633590"/>
            <a:ext cx="1985612" cy="1991540"/>
          </a:xfrm>
          <a:custGeom>
            <a:rect b="b" l="l" r="r" t="t"/>
            <a:pathLst>
              <a:path extrusionOk="0" h="1991540" w="1985612">
                <a:moveTo>
                  <a:pt x="0" y="0"/>
                </a:moveTo>
                <a:lnTo>
                  <a:pt x="1985612" y="0"/>
                </a:lnTo>
                <a:lnTo>
                  <a:pt x="1985612" y="1991540"/>
                </a:lnTo>
                <a:lnTo>
                  <a:pt x="0" y="1991540"/>
                </a:lnTo>
                <a:lnTo>
                  <a:pt x="0" y="0"/>
                </a:lnTo>
                <a:close/>
              </a:path>
            </a:pathLst>
          </a:custGeom>
          <a:blipFill rotWithShape="1">
            <a:blip r:embed="rId8">
              <a:alphaModFix/>
            </a:blip>
            <a:stretch>
              <a:fillRect b="0" l="0" r="0" t="0"/>
            </a:stretch>
          </a:blipFill>
          <a:ln>
            <a:noFill/>
          </a:ln>
        </p:spPr>
      </p:sp>
      <p:sp>
        <p:nvSpPr>
          <p:cNvPr id="213" name="Google Shape;213;p14"/>
          <p:cNvSpPr/>
          <p:nvPr/>
        </p:nvSpPr>
        <p:spPr>
          <a:xfrm>
            <a:off x="11003649" y="7735907"/>
            <a:ext cx="3327628" cy="1871790"/>
          </a:xfrm>
          <a:custGeom>
            <a:rect b="b" l="l" r="r" t="t"/>
            <a:pathLst>
              <a:path extrusionOk="0" h="1871790" w="3327628">
                <a:moveTo>
                  <a:pt x="0" y="0"/>
                </a:moveTo>
                <a:lnTo>
                  <a:pt x="3327628" y="0"/>
                </a:lnTo>
                <a:lnTo>
                  <a:pt x="3327628" y="1871791"/>
                </a:lnTo>
                <a:lnTo>
                  <a:pt x="0" y="1871791"/>
                </a:lnTo>
                <a:lnTo>
                  <a:pt x="0" y="0"/>
                </a:lnTo>
                <a:close/>
              </a:path>
            </a:pathLst>
          </a:custGeom>
          <a:blipFill rotWithShape="1">
            <a:blip r:embed="rId9">
              <a:alphaModFix/>
            </a:blip>
            <a:stretch>
              <a:fillRect b="0" l="0" r="0" t="0"/>
            </a:stretch>
          </a:blipFill>
          <a:ln>
            <a:noFill/>
          </a:ln>
        </p:spPr>
      </p:sp>
      <p:sp>
        <p:nvSpPr>
          <p:cNvPr id="214" name="Google Shape;214;p14"/>
          <p:cNvSpPr/>
          <p:nvPr/>
        </p:nvSpPr>
        <p:spPr>
          <a:xfrm>
            <a:off x="14863284" y="2152947"/>
            <a:ext cx="2804849" cy="1577727"/>
          </a:xfrm>
          <a:custGeom>
            <a:rect b="b" l="l" r="r" t="t"/>
            <a:pathLst>
              <a:path extrusionOk="0" h="1577727" w="2804849">
                <a:moveTo>
                  <a:pt x="0" y="0"/>
                </a:moveTo>
                <a:lnTo>
                  <a:pt x="2804849" y="0"/>
                </a:lnTo>
                <a:lnTo>
                  <a:pt x="2804849" y="1577727"/>
                </a:lnTo>
                <a:lnTo>
                  <a:pt x="0" y="1577727"/>
                </a:lnTo>
                <a:lnTo>
                  <a:pt x="0" y="0"/>
                </a:lnTo>
                <a:close/>
              </a:path>
            </a:pathLst>
          </a:custGeom>
          <a:blipFill rotWithShape="1">
            <a:blip r:embed="rId10">
              <a:alphaModFix/>
            </a:blip>
            <a:stretch>
              <a:fillRect b="0" l="0" r="0" t="0"/>
            </a:stretch>
          </a:blipFill>
          <a:ln>
            <a:noFill/>
          </a:ln>
        </p:spPr>
      </p:sp>
      <p:sp>
        <p:nvSpPr>
          <p:cNvPr id="215" name="Google Shape;215;p14"/>
          <p:cNvSpPr/>
          <p:nvPr/>
        </p:nvSpPr>
        <p:spPr>
          <a:xfrm>
            <a:off x="13169550" y="3859134"/>
            <a:ext cx="2429984" cy="1360791"/>
          </a:xfrm>
          <a:custGeom>
            <a:rect b="b" l="l" r="r" t="t"/>
            <a:pathLst>
              <a:path extrusionOk="0" h="1360791" w="2429984">
                <a:moveTo>
                  <a:pt x="0" y="0"/>
                </a:moveTo>
                <a:lnTo>
                  <a:pt x="2429984" y="0"/>
                </a:lnTo>
                <a:lnTo>
                  <a:pt x="2429984" y="1360791"/>
                </a:lnTo>
                <a:lnTo>
                  <a:pt x="0" y="1360791"/>
                </a:lnTo>
                <a:lnTo>
                  <a:pt x="0" y="0"/>
                </a:lnTo>
                <a:close/>
              </a:path>
            </a:pathLst>
          </a:custGeom>
          <a:blipFill rotWithShape="1">
            <a:blip r:embed="rId11">
              <a:alphaModFix/>
            </a:blip>
            <a:stretch>
              <a:fillRect b="0" l="0" r="0" t="0"/>
            </a:stretch>
          </a:blipFill>
          <a:ln>
            <a:noFill/>
          </a:ln>
        </p:spPr>
      </p:sp>
      <p:sp>
        <p:nvSpPr>
          <p:cNvPr id="216" name="Google Shape;216;p14"/>
          <p:cNvSpPr/>
          <p:nvPr/>
        </p:nvSpPr>
        <p:spPr>
          <a:xfrm>
            <a:off x="10496668" y="6006409"/>
            <a:ext cx="3503696" cy="1302375"/>
          </a:xfrm>
          <a:custGeom>
            <a:rect b="b" l="l" r="r" t="t"/>
            <a:pathLst>
              <a:path extrusionOk="0" h="1302375" w="3503696">
                <a:moveTo>
                  <a:pt x="0" y="0"/>
                </a:moveTo>
                <a:lnTo>
                  <a:pt x="3503696" y="0"/>
                </a:lnTo>
                <a:lnTo>
                  <a:pt x="3503696" y="1302375"/>
                </a:lnTo>
                <a:lnTo>
                  <a:pt x="0" y="1302375"/>
                </a:lnTo>
                <a:lnTo>
                  <a:pt x="0" y="0"/>
                </a:lnTo>
                <a:close/>
              </a:path>
            </a:pathLst>
          </a:custGeom>
          <a:blipFill rotWithShape="1">
            <a:blip r:embed="rId12">
              <a:alphaModFix/>
            </a:blip>
            <a:stretch>
              <a:fillRect b="0" l="0" r="0" t="0"/>
            </a:stretch>
          </a:blipFill>
          <a:ln>
            <a:noFill/>
          </a:ln>
        </p:spPr>
      </p:sp>
      <p:sp>
        <p:nvSpPr>
          <p:cNvPr id="217" name="Google Shape;217;p14"/>
          <p:cNvSpPr/>
          <p:nvPr/>
        </p:nvSpPr>
        <p:spPr>
          <a:xfrm>
            <a:off x="1355538" y="2152947"/>
            <a:ext cx="2397497" cy="2341305"/>
          </a:xfrm>
          <a:custGeom>
            <a:rect b="b" l="l" r="r" t="t"/>
            <a:pathLst>
              <a:path extrusionOk="0" h="2341305" w="2397497">
                <a:moveTo>
                  <a:pt x="0" y="0"/>
                </a:moveTo>
                <a:lnTo>
                  <a:pt x="2397497" y="0"/>
                </a:lnTo>
                <a:lnTo>
                  <a:pt x="2397497" y="2341305"/>
                </a:lnTo>
                <a:lnTo>
                  <a:pt x="0" y="2341305"/>
                </a:lnTo>
                <a:lnTo>
                  <a:pt x="0" y="0"/>
                </a:lnTo>
                <a:close/>
              </a:path>
            </a:pathLst>
          </a:custGeom>
          <a:blipFill rotWithShape="1">
            <a:blip r:embed="rId13">
              <a:alphaModFix/>
            </a:blip>
            <a:stretch>
              <a:fillRect b="0" l="0" r="0" t="0"/>
            </a:stretch>
          </a:blipFill>
          <a:ln>
            <a:noFill/>
          </a:ln>
        </p:spPr>
      </p:sp>
      <p:sp>
        <p:nvSpPr>
          <p:cNvPr id="218" name="Google Shape;218;p14"/>
          <p:cNvSpPr/>
          <p:nvPr/>
        </p:nvSpPr>
        <p:spPr>
          <a:xfrm>
            <a:off x="3956676" y="2455772"/>
            <a:ext cx="2833722" cy="1735654"/>
          </a:xfrm>
          <a:custGeom>
            <a:rect b="b" l="l" r="r" t="t"/>
            <a:pathLst>
              <a:path extrusionOk="0" h="1735654" w="2833722">
                <a:moveTo>
                  <a:pt x="0" y="0"/>
                </a:moveTo>
                <a:lnTo>
                  <a:pt x="2833722" y="0"/>
                </a:lnTo>
                <a:lnTo>
                  <a:pt x="2833722" y="1735655"/>
                </a:lnTo>
                <a:lnTo>
                  <a:pt x="0" y="1735655"/>
                </a:lnTo>
                <a:lnTo>
                  <a:pt x="0" y="0"/>
                </a:lnTo>
                <a:close/>
              </a:path>
            </a:pathLst>
          </a:custGeom>
          <a:blipFill rotWithShape="1">
            <a:blip r:embed="rId14">
              <a:alphaModFix/>
            </a:blip>
            <a:stretch>
              <a:fillRect b="0" l="0" r="0" t="0"/>
            </a:stretch>
          </a:blipFill>
          <a:ln>
            <a:noFill/>
          </a:ln>
        </p:spPr>
      </p:sp>
      <p:sp>
        <p:nvSpPr>
          <p:cNvPr id="219" name="Google Shape;219;p14"/>
          <p:cNvSpPr/>
          <p:nvPr/>
        </p:nvSpPr>
        <p:spPr>
          <a:xfrm>
            <a:off x="7546594" y="2651594"/>
            <a:ext cx="1493345" cy="1344011"/>
          </a:xfrm>
          <a:custGeom>
            <a:rect b="b" l="l" r="r" t="t"/>
            <a:pathLst>
              <a:path extrusionOk="0" h="1344011" w="1493345">
                <a:moveTo>
                  <a:pt x="0" y="0"/>
                </a:moveTo>
                <a:lnTo>
                  <a:pt x="1493345" y="0"/>
                </a:lnTo>
                <a:lnTo>
                  <a:pt x="1493345" y="1344011"/>
                </a:lnTo>
                <a:lnTo>
                  <a:pt x="0" y="1344011"/>
                </a:lnTo>
                <a:lnTo>
                  <a:pt x="0" y="0"/>
                </a:lnTo>
                <a:close/>
              </a:path>
            </a:pathLst>
          </a:custGeom>
          <a:blipFill rotWithShape="1">
            <a:blip r:embed="rId15">
              <a:alphaModFix/>
            </a:blip>
            <a:stretch>
              <a:fillRect b="0" l="0" r="0" t="0"/>
            </a:stretch>
          </a:blipFill>
          <a:ln>
            <a:noFill/>
          </a:ln>
        </p:spPr>
      </p:sp>
      <p:sp>
        <p:nvSpPr>
          <p:cNvPr id="220" name="Google Shape;220;p14"/>
          <p:cNvSpPr/>
          <p:nvPr/>
        </p:nvSpPr>
        <p:spPr>
          <a:xfrm>
            <a:off x="5912403" y="7416981"/>
            <a:ext cx="4285021" cy="2190717"/>
          </a:xfrm>
          <a:custGeom>
            <a:rect b="b" l="l" r="r" t="t"/>
            <a:pathLst>
              <a:path extrusionOk="0" h="2190717" w="4285021">
                <a:moveTo>
                  <a:pt x="0" y="0"/>
                </a:moveTo>
                <a:lnTo>
                  <a:pt x="4285021" y="0"/>
                </a:lnTo>
                <a:lnTo>
                  <a:pt x="4285021" y="2190717"/>
                </a:lnTo>
                <a:lnTo>
                  <a:pt x="0" y="2190717"/>
                </a:lnTo>
                <a:lnTo>
                  <a:pt x="0" y="0"/>
                </a:lnTo>
                <a:close/>
              </a:path>
            </a:pathLst>
          </a:custGeom>
          <a:blipFill rotWithShape="1">
            <a:blip r:embed="rId16">
              <a:alphaModFix/>
            </a:blip>
            <a:stretch>
              <a:fillRect b="0" l="0" r="0" t="0"/>
            </a:stretch>
          </a:blipFill>
          <a:ln>
            <a:noFill/>
          </a:ln>
        </p:spPr>
      </p:sp>
      <p:sp>
        <p:nvSpPr>
          <p:cNvPr id="221" name="Google Shape;221;p14"/>
          <p:cNvSpPr txBox="1"/>
          <p:nvPr/>
        </p:nvSpPr>
        <p:spPr>
          <a:xfrm>
            <a:off x="1181100" y="1228725"/>
            <a:ext cx="10404166" cy="10140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Tecnologías utilizadas</a:t>
            </a:r>
            <a:endParaRPr/>
          </a:p>
        </p:txBody>
      </p:sp>
      <p:cxnSp>
        <p:nvCxnSpPr>
          <p:cNvPr id="222" name="Google Shape;222;p14"/>
          <p:cNvCxnSpPr/>
          <p:nvPr/>
        </p:nvCxnSpPr>
        <p:spPr>
          <a:xfrm>
            <a:off x="1157612" y="2393767"/>
            <a:ext cx="7211120" cy="0"/>
          </a:xfrm>
          <a:prstGeom prst="straightConnector1">
            <a:avLst/>
          </a:prstGeom>
          <a:noFill/>
          <a:ln cap="flat" cmpd="sng" w="19050">
            <a:solidFill>
              <a:srgbClr val="307FE2"/>
            </a:solidFill>
            <a:prstDash val="solid"/>
            <a:round/>
            <a:headEnd len="sm" w="sm" type="none"/>
            <a:tailEnd len="sm" w="sm" type="none"/>
          </a:ln>
        </p:spPr>
      </p:cxn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226" name="Shape 226"/>
        <p:cNvGrpSpPr/>
        <p:nvPr/>
      </p:nvGrpSpPr>
      <p:grpSpPr>
        <a:xfrm>
          <a:off x="0" y="0"/>
          <a:ext cx="0" cy="0"/>
          <a:chOff x="0" y="0"/>
          <a:chExt cx="0" cy="0"/>
        </a:xfrm>
      </p:grpSpPr>
      <p:sp>
        <p:nvSpPr>
          <p:cNvPr id="227" name="Google Shape;227;p15"/>
          <p:cNvSpPr txBox="1"/>
          <p:nvPr/>
        </p:nvSpPr>
        <p:spPr>
          <a:xfrm>
            <a:off x="4805284" y="3531262"/>
            <a:ext cx="8677432" cy="39858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0A6ED8"/>
                </a:solidFill>
                <a:latin typeface="Montserrat"/>
                <a:ea typeface="Montserrat"/>
                <a:cs typeface="Montserrat"/>
                <a:sym typeface="Montserrat"/>
              </a:rPr>
              <a:t>DEMOSTRACIÓN DEL RESULTADO DEL PROYECTO</a:t>
            </a:r>
            <a:endParaRPr/>
          </a:p>
          <a:p>
            <a:pPr indent="0" lvl="0" marL="0" marR="0" rtl="0" algn="l">
              <a:lnSpc>
                <a:spcPct val="112000"/>
              </a:lnSpc>
              <a:spcBef>
                <a:spcPts val="0"/>
              </a:spcBef>
              <a:spcAft>
                <a:spcPts val="0"/>
              </a:spcAft>
              <a:buNone/>
            </a:pPr>
            <a:r>
              <a:t/>
            </a:r>
            <a:endParaRPr b="1" i="0" sz="7000" u="none" cap="none" strike="noStrike">
              <a:solidFill>
                <a:srgbClr val="0A6ED8"/>
              </a:solidFill>
              <a:latin typeface="Montserrat"/>
              <a:ea typeface="Montserrat"/>
              <a:cs typeface="Montserrat"/>
              <a:sym typeface="Montserrat"/>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231" name="Shape 231"/>
        <p:cNvGrpSpPr/>
        <p:nvPr/>
      </p:nvGrpSpPr>
      <p:grpSpPr>
        <a:xfrm>
          <a:off x="0" y="0"/>
          <a:ext cx="0" cy="0"/>
          <a:chOff x="0" y="0"/>
          <a:chExt cx="0" cy="0"/>
        </a:xfrm>
      </p:grpSpPr>
      <p:sp>
        <p:nvSpPr>
          <p:cNvPr id="232" name="Google Shape;232;p16"/>
          <p:cNvSpPr/>
          <p:nvPr/>
        </p:nvSpPr>
        <p:spPr>
          <a:xfrm>
            <a:off x="11280585" y="1762894"/>
            <a:ext cx="6476778" cy="7344800"/>
          </a:xfrm>
          <a:custGeom>
            <a:rect b="b" l="l" r="r" t="t"/>
            <a:pathLst>
              <a:path extrusionOk="0" h="7344800" w="6476778">
                <a:moveTo>
                  <a:pt x="0" y="0"/>
                </a:moveTo>
                <a:lnTo>
                  <a:pt x="6476778" y="0"/>
                </a:lnTo>
                <a:lnTo>
                  <a:pt x="6476778" y="7344800"/>
                </a:lnTo>
                <a:lnTo>
                  <a:pt x="0" y="7344800"/>
                </a:lnTo>
                <a:lnTo>
                  <a:pt x="0" y="0"/>
                </a:lnTo>
                <a:close/>
              </a:path>
            </a:pathLst>
          </a:custGeom>
          <a:blipFill rotWithShape="1">
            <a:blip r:embed="rId3">
              <a:alphaModFix/>
            </a:blip>
            <a:stretch>
              <a:fillRect b="0" l="0" r="0" t="0"/>
            </a:stretch>
          </a:blipFill>
          <a:ln>
            <a:noFill/>
          </a:ln>
        </p:spPr>
      </p:sp>
      <p:sp>
        <p:nvSpPr>
          <p:cNvPr id="233" name="Google Shape;233;p16"/>
          <p:cNvSpPr txBox="1"/>
          <p:nvPr/>
        </p:nvSpPr>
        <p:spPr>
          <a:xfrm>
            <a:off x="1181100" y="1228725"/>
            <a:ext cx="8882587" cy="20046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Resultados obtenidos</a:t>
            </a:r>
            <a:endParaRPr/>
          </a:p>
        </p:txBody>
      </p:sp>
      <p:cxnSp>
        <p:nvCxnSpPr>
          <p:cNvPr id="234" name="Google Shape;234;p16"/>
          <p:cNvCxnSpPr/>
          <p:nvPr/>
        </p:nvCxnSpPr>
        <p:spPr>
          <a:xfrm>
            <a:off x="1181100" y="3546747"/>
            <a:ext cx="7211100" cy="0"/>
          </a:xfrm>
          <a:prstGeom prst="straightConnector1">
            <a:avLst/>
          </a:prstGeom>
          <a:noFill/>
          <a:ln cap="flat" cmpd="sng" w="19050">
            <a:solidFill>
              <a:srgbClr val="307FE2"/>
            </a:solidFill>
            <a:prstDash val="solid"/>
            <a:round/>
            <a:headEnd len="sm" w="sm" type="none"/>
            <a:tailEnd len="sm" w="sm" type="none"/>
          </a:ln>
        </p:spPr>
      </p:cxnSp>
      <p:sp>
        <p:nvSpPr>
          <p:cNvPr id="235" name="Google Shape;235;p16"/>
          <p:cNvSpPr txBox="1"/>
          <p:nvPr/>
        </p:nvSpPr>
        <p:spPr>
          <a:xfrm>
            <a:off x="1028700" y="3851561"/>
            <a:ext cx="8300027" cy="3048000"/>
          </a:xfrm>
          <a:prstGeom prst="rect">
            <a:avLst/>
          </a:prstGeom>
          <a:noFill/>
          <a:ln>
            <a:noFill/>
          </a:ln>
        </p:spPr>
        <p:txBody>
          <a:bodyPr anchorCtr="0" anchor="t" bIns="0" lIns="0" spcFirstLastPara="1" rIns="0" wrap="square" tIns="0">
            <a:spAutoFit/>
          </a:bodyPr>
          <a:lstStyle/>
          <a:p>
            <a:pPr indent="0" lvl="0" marL="0" marR="0" rtl="0" algn="just">
              <a:lnSpc>
                <a:spcPct val="120000"/>
              </a:lnSpc>
              <a:spcBef>
                <a:spcPts val="0"/>
              </a:spcBef>
              <a:spcAft>
                <a:spcPts val="0"/>
              </a:spcAft>
              <a:buNone/>
            </a:pPr>
            <a:r>
              <a:rPr b="0" i="0" lang="en-US" sz="2000" u="none" cap="none" strike="noStrike">
                <a:solidFill>
                  <a:srgbClr val="307FE2"/>
                </a:solidFill>
                <a:latin typeface="Montserrat"/>
                <a:ea typeface="Montserrat"/>
                <a:cs typeface="Montserrat"/>
                <a:sym typeface="Montserrat"/>
              </a:rPr>
              <a:t>El resultado del proyecto es mixto. Por un lado, la funcionalidad principal está operativa: el sistema utiliza la IA de OpenAI para evaluar asignaturas y los docentes pueden consultar secciones y notas. Sin embargo, persisten errores en el frontend, como notificaciones incorrectas, y el módulo de administración se postergó (está incompleto y sin testear). La IA ha mejorado significativamente; al inicio sus notas eran limitadas, pero ahora son más diversas gracias a rúbricas con "más libertad". Aún así, se requiere más optimización y adaptación a los continuos cambios de esta tecnología.</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239" name="Shape 239"/>
        <p:cNvGrpSpPr/>
        <p:nvPr/>
      </p:nvGrpSpPr>
      <p:grpSpPr>
        <a:xfrm>
          <a:off x="0" y="0"/>
          <a:ext cx="0" cy="0"/>
          <a:chOff x="0" y="0"/>
          <a:chExt cx="0" cy="0"/>
        </a:xfrm>
      </p:grpSpPr>
      <p:sp>
        <p:nvSpPr>
          <p:cNvPr id="240" name="Google Shape;240;p17"/>
          <p:cNvSpPr txBox="1"/>
          <p:nvPr/>
        </p:nvSpPr>
        <p:spPr>
          <a:xfrm>
            <a:off x="1181100" y="1228725"/>
            <a:ext cx="13050000" cy="2284200"/>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Obstáculos presentados durante el desarrollo</a:t>
            </a:r>
            <a:endParaRPr/>
          </a:p>
        </p:txBody>
      </p:sp>
      <p:cxnSp>
        <p:nvCxnSpPr>
          <p:cNvPr id="241" name="Google Shape;241;p17"/>
          <p:cNvCxnSpPr/>
          <p:nvPr/>
        </p:nvCxnSpPr>
        <p:spPr>
          <a:xfrm>
            <a:off x="1254675" y="3512922"/>
            <a:ext cx="7211100" cy="0"/>
          </a:xfrm>
          <a:prstGeom prst="straightConnector1">
            <a:avLst/>
          </a:prstGeom>
          <a:noFill/>
          <a:ln cap="flat" cmpd="sng" w="19050">
            <a:solidFill>
              <a:srgbClr val="307FE2"/>
            </a:solidFill>
            <a:prstDash val="solid"/>
            <a:round/>
            <a:headEnd len="sm" w="sm" type="none"/>
            <a:tailEnd len="sm" w="sm" type="none"/>
          </a:ln>
        </p:spPr>
      </p:cxnSp>
      <p:sp>
        <p:nvSpPr>
          <p:cNvPr id="242" name="Google Shape;242;p17"/>
          <p:cNvSpPr/>
          <p:nvPr/>
        </p:nvSpPr>
        <p:spPr>
          <a:xfrm>
            <a:off x="12895176" y="3960576"/>
            <a:ext cx="4114800" cy="4114800"/>
          </a:xfrm>
          <a:custGeom>
            <a:rect b="b" l="l" r="r" t="t"/>
            <a:pathLst>
              <a:path extrusionOk="0" h="4114800" w="4114800">
                <a:moveTo>
                  <a:pt x="0" y="0"/>
                </a:moveTo>
                <a:lnTo>
                  <a:pt x="4114800" y="0"/>
                </a:lnTo>
                <a:lnTo>
                  <a:pt x="4114800" y="4114800"/>
                </a:lnTo>
                <a:lnTo>
                  <a:pt x="0" y="4114800"/>
                </a:lnTo>
                <a:lnTo>
                  <a:pt x="0" y="0"/>
                </a:lnTo>
                <a:close/>
              </a:path>
            </a:pathLst>
          </a:custGeom>
          <a:blipFill rotWithShape="1">
            <a:blip r:embed="rId3">
              <a:alphaModFix/>
            </a:blip>
            <a:stretch>
              <a:fillRect b="0" l="0" r="0" t="0"/>
            </a:stretch>
          </a:blipFill>
          <a:ln>
            <a:noFill/>
          </a:ln>
        </p:spPr>
      </p:sp>
      <p:sp>
        <p:nvSpPr>
          <p:cNvPr id="243" name="Google Shape;243;p17"/>
          <p:cNvSpPr txBox="1"/>
          <p:nvPr/>
        </p:nvSpPr>
        <p:spPr>
          <a:xfrm>
            <a:off x="1028700" y="3851561"/>
            <a:ext cx="8300027" cy="2133600"/>
          </a:xfrm>
          <a:prstGeom prst="rect">
            <a:avLst/>
          </a:prstGeom>
          <a:noFill/>
          <a:ln>
            <a:noFill/>
          </a:ln>
        </p:spPr>
        <p:txBody>
          <a:bodyPr anchorCtr="0" anchor="t" bIns="0" lIns="0" spcFirstLastPara="1" rIns="0" wrap="square" tIns="0">
            <a:spAutoFit/>
          </a:bodyPr>
          <a:lstStyle/>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Falta de organización en la asignación de tareas entre el equipo.</a:t>
            </a:r>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Errores desconocidos dentro de la implementación del sistema.</a:t>
            </a:r>
            <a:endParaRPr/>
          </a:p>
          <a:p>
            <a:pPr indent="-215900" lvl="1" marL="431801" marR="0" rtl="0" algn="just">
              <a:lnSpc>
                <a:spcPct val="120000"/>
              </a:lnSpc>
              <a:spcBef>
                <a:spcPts val="0"/>
              </a:spcBef>
              <a:spcAft>
                <a:spcPts val="0"/>
              </a:spcAft>
              <a:buClr>
                <a:srgbClr val="307FE2"/>
              </a:buClr>
              <a:buSzPts val="2000"/>
              <a:buFont typeface="Arial"/>
              <a:buChar char="•"/>
            </a:pPr>
            <a:r>
              <a:rPr b="0" i="0" lang="en-US" sz="2000" u="none" cap="none" strike="noStrike">
                <a:solidFill>
                  <a:srgbClr val="307FE2"/>
                </a:solidFill>
                <a:latin typeface="Montserrat"/>
                <a:ea typeface="Montserrat"/>
                <a:cs typeface="Montserrat"/>
                <a:sym typeface="Montserrat"/>
              </a:rPr>
              <a:t>Falta de créditos en las APIS_KEY a la hora de evaluar con el agente.</a:t>
            </a:r>
            <a:endParaRPr/>
          </a:p>
          <a:p>
            <a:pPr indent="0" lvl="0" marL="0" marR="0" rtl="0" algn="just">
              <a:lnSpc>
                <a:spcPct val="120000"/>
              </a:lnSpc>
              <a:spcBef>
                <a:spcPts val="0"/>
              </a:spcBef>
              <a:spcAft>
                <a:spcPts val="0"/>
              </a:spcAft>
              <a:buNone/>
            </a:pPr>
            <a:r>
              <a:t/>
            </a:r>
            <a:endParaRPr b="0" i="0" sz="2000" u="none" cap="none" strike="noStrike">
              <a:solidFill>
                <a:srgbClr val="307FE2"/>
              </a:solidFill>
              <a:latin typeface="Montserrat"/>
              <a:ea typeface="Montserrat"/>
              <a:cs typeface="Montserrat"/>
              <a:sym typeface="Montserrat"/>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247" name="Shape 247"/>
        <p:cNvGrpSpPr/>
        <p:nvPr/>
      </p:nvGrpSpPr>
      <p:grpSpPr>
        <a:xfrm>
          <a:off x="0" y="0"/>
          <a:ext cx="0" cy="0"/>
          <a:chOff x="0" y="0"/>
          <a:chExt cx="0" cy="0"/>
        </a:xfrm>
      </p:grpSpPr>
      <p:sp>
        <p:nvSpPr>
          <p:cNvPr id="248" name="Google Shape;248;p18"/>
          <p:cNvSpPr/>
          <p:nvPr/>
        </p:nvSpPr>
        <p:spPr>
          <a:xfrm>
            <a:off x="10429875" y="0"/>
            <a:ext cx="7858125" cy="10287000"/>
          </a:xfrm>
          <a:custGeom>
            <a:rect b="b" l="l" r="r" t="t"/>
            <a:pathLst>
              <a:path extrusionOk="0" h="1593725" w="1217429">
                <a:moveTo>
                  <a:pt x="0" y="0"/>
                </a:moveTo>
                <a:lnTo>
                  <a:pt x="1217429" y="0"/>
                </a:lnTo>
                <a:lnTo>
                  <a:pt x="1217429" y="1593725"/>
                </a:lnTo>
                <a:lnTo>
                  <a:pt x="0" y="1593725"/>
                </a:lnTo>
                <a:close/>
              </a:path>
            </a:pathLst>
          </a:custGeom>
          <a:blipFill rotWithShape="1">
            <a:blip r:embed="rId3">
              <a:alphaModFix/>
            </a:blip>
            <a:stretch>
              <a:fillRect b="-253" l="0" r="0" t="-253"/>
            </a:stretch>
          </a:blipFill>
          <a:ln>
            <a:noFill/>
          </a:ln>
        </p:spPr>
      </p:sp>
      <p:sp>
        <p:nvSpPr>
          <p:cNvPr id="249" name="Google Shape;249;p18"/>
          <p:cNvSpPr txBox="1"/>
          <p:nvPr/>
        </p:nvSpPr>
        <p:spPr>
          <a:xfrm>
            <a:off x="1181100" y="1228725"/>
            <a:ext cx="8882587" cy="10140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307FE2"/>
                </a:solidFill>
                <a:latin typeface="Montserrat"/>
                <a:ea typeface="Montserrat"/>
                <a:cs typeface="Montserrat"/>
                <a:sym typeface="Montserrat"/>
              </a:rPr>
              <a:t>Conclusiones</a:t>
            </a:r>
            <a:endParaRPr/>
          </a:p>
        </p:txBody>
      </p:sp>
      <p:cxnSp>
        <p:nvCxnSpPr>
          <p:cNvPr id="250" name="Google Shape;250;p18"/>
          <p:cNvCxnSpPr/>
          <p:nvPr/>
        </p:nvCxnSpPr>
        <p:spPr>
          <a:xfrm>
            <a:off x="1157612" y="2393767"/>
            <a:ext cx="7211120" cy="0"/>
          </a:xfrm>
          <a:prstGeom prst="straightConnector1">
            <a:avLst/>
          </a:prstGeom>
          <a:noFill/>
          <a:ln cap="flat" cmpd="sng" w="19050">
            <a:solidFill>
              <a:srgbClr val="307FE2"/>
            </a:solidFill>
            <a:prstDash val="solid"/>
            <a:round/>
            <a:headEnd len="sm" w="sm" type="none"/>
            <a:tailEnd len="sm" w="sm" type="none"/>
          </a:ln>
        </p:spPr>
      </p:cxnSp>
      <p:sp>
        <p:nvSpPr>
          <p:cNvPr id="251" name="Google Shape;251;p18"/>
          <p:cNvSpPr txBox="1"/>
          <p:nvPr/>
        </p:nvSpPr>
        <p:spPr>
          <a:xfrm>
            <a:off x="1157612" y="2997599"/>
            <a:ext cx="8811362" cy="1828800"/>
          </a:xfrm>
          <a:prstGeom prst="rect">
            <a:avLst/>
          </a:prstGeom>
          <a:noFill/>
          <a:ln>
            <a:noFill/>
          </a:ln>
        </p:spPr>
        <p:txBody>
          <a:bodyPr anchorCtr="0" anchor="t" bIns="0" lIns="0" spcFirstLastPara="1" rIns="0" wrap="square" tIns="0">
            <a:spAutoFit/>
          </a:bodyPr>
          <a:lstStyle/>
          <a:p>
            <a:pPr indent="0" lvl="0" marL="0" marR="0" rtl="0" algn="just">
              <a:lnSpc>
                <a:spcPct val="120000"/>
              </a:lnSpc>
              <a:spcBef>
                <a:spcPts val="0"/>
              </a:spcBef>
              <a:spcAft>
                <a:spcPts val="0"/>
              </a:spcAft>
              <a:buNone/>
            </a:pPr>
            <a:r>
              <a:rPr b="0" i="0" lang="en-US" sz="2000" u="none" cap="none" strike="noStrike">
                <a:solidFill>
                  <a:srgbClr val="307FE2"/>
                </a:solidFill>
                <a:latin typeface="Montserrat"/>
                <a:ea typeface="Montserrat"/>
                <a:cs typeface="Montserrat"/>
                <a:sym typeface="Montserrat"/>
              </a:rPr>
              <a:t>La evaluación asistida por IA ha demostrado ser una solución eficaz para los desafíos actuales en la corrección de evaluaciones. Este enfoque no solo mejora la precisión y diversidad en la calificación, sino que también permite a los docentes mantener el control sobre el proceso educativo mientras se benefician de la asistencia tecnológica.</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4F6"/>
        </a:solidFill>
      </p:bgPr>
    </p:bg>
    <p:spTree>
      <p:nvGrpSpPr>
        <p:cNvPr id="255" name="Shape 255"/>
        <p:cNvGrpSpPr/>
        <p:nvPr/>
      </p:nvGrpSpPr>
      <p:grpSpPr>
        <a:xfrm>
          <a:off x="0" y="0"/>
          <a:ext cx="0" cy="0"/>
          <a:chOff x="0" y="0"/>
          <a:chExt cx="0" cy="0"/>
        </a:xfrm>
      </p:grpSpPr>
      <p:sp>
        <p:nvSpPr>
          <p:cNvPr id="256" name="Google Shape;256;p19"/>
          <p:cNvSpPr txBox="1"/>
          <p:nvPr/>
        </p:nvSpPr>
        <p:spPr>
          <a:xfrm>
            <a:off x="3430246" y="3669664"/>
            <a:ext cx="11427508" cy="2995297"/>
          </a:xfrm>
          <a:prstGeom prst="rect">
            <a:avLst/>
          </a:prstGeom>
          <a:noFill/>
          <a:ln>
            <a:noFill/>
          </a:ln>
        </p:spPr>
        <p:txBody>
          <a:bodyPr anchorCtr="0" anchor="t" bIns="0" lIns="0" spcFirstLastPara="1" rIns="0" wrap="square" tIns="0">
            <a:spAutoFit/>
          </a:bodyPr>
          <a:lstStyle/>
          <a:p>
            <a:pPr indent="0" lvl="0" marL="0" marR="0" rtl="0" algn="l">
              <a:lnSpc>
                <a:spcPct val="112000"/>
              </a:lnSpc>
              <a:spcBef>
                <a:spcPts val="0"/>
              </a:spcBef>
              <a:spcAft>
                <a:spcPts val="0"/>
              </a:spcAft>
              <a:buNone/>
            </a:pPr>
            <a:r>
              <a:rPr b="1" i="0" lang="en-US" sz="7000" u="none" cap="none" strike="noStrike">
                <a:solidFill>
                  <a:srgbClr val="0A6ED8"/>
                </a:solidFill>
                <a:latin typeface="Montserrat"/>
                <a:ea typeface="Montserrat"/>
                <a:cs typeface="Montserrat"/>
                <a:sym typeface="Montserrat"/>
              </a:rPr>
              <a:t>PREGUNTAS DE LA COMISIÓN</a:t>
            </a:r>
            <a:endParaRPr/>
          </a:p>
          <a:p>
            <a:pPr indent="0" lvl="0" marL="0" marR="0" rtl="0" algn="l">
              <a:lnSpc>
                <a:spcPct val="112000"/>
              </a:lnSpc>
              <a:spcBef>
                <a:spcPts val="0"/>
              </a:spcBef>
              <a:spcAft>
                <a:spcPts val="0"/>
              </a:spcAft>
              <a:buNone/>
            </a:pPr>
            <a:r>
              <a:t/>
            </a:r>
            <a:endParaRPr b="1" i="0" sz="7000" u="none" cap="none" strike="noStrike">
              <a:solidFill>
                <a:srgbClr val="0A6ED8"/>
              </a:solidFill>
              <a:latin typeface="Montserrat"/>
              <a:ea typeface="Montserrat"/>
              <a:cs typeface="Montserrat"/>
              <a:sym typeface="Montserrat"/>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2006-08-16T00:00:00Z</dcterms:created>
</cp:coreProperties>
</file>